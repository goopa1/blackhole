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f79ba3f62a48cb" /><Relationship Type="http://schemas.openxmlformats.org/officeDocument/2006/relationships/extended-properties" Target="/docProps/app.xml" Id="Rf95c2251bc55440e" /><Relationship Type="http://schemas.openxmlformats.org/officeDocument/2006/relationships/officeDocument" Target="/ppt/presentation.xml" Id="R0dd2b85346734987" /></Relationships>
</file>

<file path=ppt/presentation.xml><?xml version="1.0" encoding="utf-8"?>
<p:presentation xmlns:p="http://schemas.openxmlformats.org/presentationml/2006/main">
  <p:sldMasterIdLst>
    <p:sldMasterId xmlns:r="http://schemas.openxmlformats.org/officeDocument/2006/relationships" id="2147483648" r:id="R56cae2cc377c434e"/>
  </p:sldMasterIdLst>
  <p:notesMasterIdLst>
    <p:notesMasterId xmlns:r="http://schemas.openxmlformats.org/officeDocument/2006/relationships" r:id="Rbd3ae46591804410"/>
  </p:notesMasterIdLst>
  <p:sldIdLst>
    <p:sldId xmlns:r="http://schemas.openxmlformats.org/officeDocument/2006/relationships" id="256" r:id="Ra8e4ebfce3864e63"/>
    <p:sldId xmlns:r="http://schemas.openxmlformats.org/officeDocument/2006/relationships" id="257" r:id="Rcfab3839299e47ae"/>
    <p:sldId xmlns:r="http://schemas.openxmlformats.org/officeDocument/2006/relationships" id="258" r:id="R5b21ed6ad9494daf"/>
    <p:sldId xmlns:r="http://schemas.openxmlformats.org/officeDocument/2006/relationships" id="259" r:id="Ra510576651f9449a"/>
    <p:sldId xmlns:r="http://schemas.openxmlformats.org/officeDocument/2006/relationships" id="260" r:id="Ra02291bdaeb24cf2"/>
    <p:sldId xmlns:r="http://schemas.openxmlformats.org/officeDocument/2006/relationships" id="261" r:id="Rca9e04749cfa4e15"/>
    <p:sldId xmlns:r="http://schemas.openxmlformats.org/officeDocument/2006/relationships" id="262" r:id="R5ead969a22694502"/>
    <p:sldId xmlns:r="http://schemas.openxmlformats.org/officeDocument/2006/relationships" id="263" r:id="R326ed512fe584116"/>
    <p:sldId xmlns:r="http://schemas.openxmlformats.org/officeDocument/2006/relationships" id="264" r:id="R4159bfcccf1f4d75"/>
    <p:sldId xmlns:r="http://schemas.openxmlformats.org/officeDocument/2006/relationships" id="265" r:id="Rdd3db0847cb64082"/>
    <p:sldId xmlns:r="http://schemas.openxmlformats.org/officeDocument/2006/relationships" id="266" r:id="Ref19b5c38ba54ded"/>
    <p:sldId xmlns:r="http://schemas.openxmlformats.org/officeDocument/2006/relationships" id="267" r:id="R9a98e33f97734f56"/>
    <p:sldId xmlns:r="http://schemas.openxmlformats.org/officeDocument/2006/relationships" id="268" r:id="R65a59d23618d4b2d"/>
    <p:sldId xmlns:r="http://schemas.openxmlformats.org/officeDocument/2006/relationships" id="269" r:id="Re2c4a93f70014a54"/>
    <p:sldId xmlns:r="http://schemas.openxmlformats.org/officeDocument/2006/relationships" id="270" r:id="R68edcd516cc74458"/>
    <p:sldId xmlns:r="http://schemas.openxmlformats.org/officeDocument/2006/relationships" id="271" r:id="R1acf5bca1e6142e0"/>
    <p:sldId xmlns:r="http://schemas.openxmlformats.org/officeDocument/2006/relationships" id="272" r:id="Rabbbbf097a554faa"/>
    <p:sldId xmlns:r="http://schemas.openxmlformats.org/officeDocument/2006/relationships" id="273" r:id="R76d6a1c540e94750"/>
    <p:sldId xmlns:r="http://schemas.openxmlformats.org/officeDocument/2006/relationships" id="274" r:id="Re6bc3a12a5134ff5"/>
    <p:sldId xmlns:r="http://schemas.openxmlformats.org/officeDocument/2006/relationships" id="275" r:id="Rd8f173facef64108"/>
    <p:sldId xmlns:r="http://schemas.openxmlformats.org/officeDocument/2006/relationships" id="276" r:id="Rf24277ef5d6f4d54"/>
    <p:sldId xmlns:r="http://schemas.openxmlformats.org/officeDocument/2006/relationships" id="277" r:id="Rc9cebdcda4de461e"/>
    <p:sldId xmlns:r="http://schemas.openxmlformats.org/officeDocument/2006/relationships" id="278" r:id="Rf5a97d55d81249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31d89cf9a34b9f" /><Relationship Type="http://schemas.openxmlformats.org/officeDocument/2006/relationships/slideMaster" Target="/ppt/slideMasters/slideMaster1.xml" Id="R56cae2cc377c434e" /><Relationship Type="http://schemas.openxmlformats.org/officeDocument/2006/relationships/notesMaster" Target="/ppt/notesMasters/notesMaster1.xml" Id="Rbd3ae46591804410" /><Relationship Type="http://schemas.openxmlformats.org/officeDocument/2006/relationships/presProps" Target="/ppt/presProps.xml" Id="R16762a8d3b9740aa" /><Relationship Type="http://schemas.openxmlformats.org/officeDocument/2006/relationships/tableStyles" Target="/ppt/tableStyles.xml" Id="R877b475ca5ba4143" /><Relationship Type="http://schemas.openxmlformats.org/officeDocument/2006/relationships/slide" Target="/ppt/slides/slide1.xml" Id="Ra8e4ebfce3864e63" /><Relationship Type="http://schemas.openxmlformats.org/officeDocument/2006/relationships/slide" Target="/ppt/slides/slide2.xml" Id="Rcfab3839299e47ae" /><Relationship Type="http://schemas.openxmlformats.org/officeDocument/2006/relationships/slide" Target="/ppt/slides/slide3.xml" Id="R5b21ed6ad9494daf" /><Relationship Type="http://schemas.openxmlformats.org/officeDocument/2006/relationships/slide" Target="/ppt/slides/slide4.xml" Id="Ra510576651f9449a" /><Relationship Type="http://schemas.openxmlformats.org/officeDocument/2006/relationships/slide" Target="/ppt/slides/slide5.xml" Id="Ra02291bdaeb24cf2" /><Relationship Type="http://schemas.openxmlformats.org/officeDocument/2006/relationships/slide" Target="/ppt/slides/slide6.xml" Id="Rca9e04749cfa4e15" /><Relationship Type="http://schemas.openxmlformats.org/officeDocument/2006/relationships/slide" Target="/ppt/slides/slide7.xml" Id="R5ead969a22694502" /><Relationship Type="http://schemas.openxmlformats.org/officeDocument/2006/relationships/slide" Target="/ppt/slides/slide8.xml" Id="R326ed512fe584116" /><Relationship Type="http://schemas.openxmlformats.org/officeDocument/2006/relationships/slide" Target="/ppt/slides/slide9.xml" Id="R4159bfcccf1f4d75" /><Relationship Type="http://schemas.openxmlformats.org/officeDocument/2006/relationships/slide" Target="/ppt/slides/slide10.xml" Id="Rdd3db0847cb64082" /><Relationship Type="http://schemas.openxmlformats.org/officeDocument/2006/relationships/slide" Target="/ppt/slides/slide11.xml" Id="Ref19b5c38ba54ded" /><Relationship Type="http://schemas.openxmlformats.org/officeDocument/2006/relationships/slide" Target="/ppt/slides/slide12.xml" Id="R9a98e33f97734f56" /><Relationship Type="http://schemas.openxmlformats.org/officeDocument/2006/relationships/slide" Target="/ppt/slides/slide13.xml" Id="R65a59d23618d4b2d" /><Relationship Type="http://schemas.openxmlformats.org/officeDocument/2006/relationships/slide" Target="/ppt/slides/slide14.xml" Id="Re2c4a93f70014a54" /><Relationship Type="http://schemas.openxmlformats.org/officeDocument/2006/relationships/slide" Target="/ppt/slides/slide15.xml" Id="R68edcd516cc74458" /><Relationship Type="http://schemas.openxmlformats.org/officeDocument/2006/relationships/slide" Target="/ppt/slides/slide16.xml" Id="R1acf5bca1e6142e0" /><Relationship Type="http://schemas.openxmlformats.org/officeDocument/2006/relationships/slide" Target="/ppt/slides/slide17.xml" Id="Rabbbbf097a554faa" /><Relationship Type="http://schemas.openxmlformats.org/officeDocument/2006/relationships/slide" Target="/ppt/slides/slide18.xml" Id="R76d6a1c540e94750" /><Relationship Type="http://schemas.openxmlformats.org/officeDocument/2006/relationships/slide" Target="/ppt/slides/slide19.xml" Id="Re6bc3a12a5134ff5" /><Relationship Type="http://schemas.openxmlformats.org/officeDocument/2006/relationships/slide" Target="/ppt/slides/slide20.xml" Id="Rd8f173facef64108" /><Relationship Type="http://schemas.openxmlformats.org/officeDocument/2006/relationships/slide" Target="/ppt/slides/slide21.xml" Id="Rf24277ef5d6f4d54" /><Relationship Type="http://schemas.openxmlformats.org/officeDocument/2006/relationships/slide" Target="/ppt/slides/slide22.xml" Id="Rc9cebdcda4de461e" /><Relationship Type="http://schemas.openxmlformats.org/officeDocument/2006/relationships/slide" Target="/ppt/slides/slide23.xml" Id="Rf5a97d55d81249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96da49317448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989b509c2e4b03" /><Relationship Type="http://schemas.openxmlformats.org/officeDocument/2006/relationships/notesMaster" Target="/ppt/notesMasters/notesMaster1.xml" Id="R1c7b425fe7a443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33d4c89b6140e1" /><Relationship Type="http://schemas.openxmlformats.org/officeDocument/2006/relationships/notesMaster" Target="/ppt/notesMasters/notesMaster1.xml" Id="R09b258c840044c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fccb81e0ed48fa" /><Relationship Type="http://schemas.openxmlformats.org/officeDocument/2006/relationships/notesMaster" Target="/ppt/notesMasters/notesMaster1.xml" Id="Re50a9fc7de6e42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128e98c4b9445d" /><Relationship Type="http://schemas.openxmlformats.org/officeDocument/2006/relationships/notesMaster" Target="/ppt/notesMasters/notesMaster1.xml" Id="R8824e4a40cc346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07d7e177aa4368" /><Relationship Type="http://schemas.openxmlformats.org/officeDocument/2006/relationships/notesMaster" Target="/ppt/notesMasters/notesMaster1.xml" Id="R7e9270a223b240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0f6e2ebfb74db3" /><Relationship Type="http://schemas.openxmlformats.org/officeDocument/2006/relationships/notesMaster" Target="/ppt/notesMasters/notesMaster1.xml" Id="R1d603859f30b47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3efcdeb33a49e5" /><Relationship Type="http://schemas.openxmlformats.org/officeDocument/2006/relationships/notesMaster" Target="/ppt/notesMasters/notesMaster1.xml" Id="Ra48315c212f244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76f2827c1f43d7" /><Relationship Type="http://schemas.openxmlformats.org/officeDocument/2006/relationships/notesMaster" Target="/ppt/notesMasters/notesMaster1.xml" Id="Rf318c2a219f04c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88f6f5e50242db" /><Relationship Type="http://schemas.openxmlformats.org/officeDocument/2006/relationships/notesMaster" Target="/ppt/notesMasters/notesMaster1.xml" Id="R9d9d971eb90c4a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9e58e24c7940d4" /><Relationship Type="http://schemas.openxmlformats.org/officeDocument/2006/relationships/notesMaster" Target="/ppt/notesMasters/notesMaster1.xml" Id="R04fbc732668e49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33f40739394405" /><Relationship Type="http://schemas.openxmlformats.org/officeDocument/2006/relationships/notesMaster" Target="/ppt/notesMasters/notesMaster1.xml" Id="R0d43f90c627940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f8c0c513694b5b" /><Relationship Type="http://schemas.openxmlformats.org/officeDocument/2006/relationships/notesMaster" Target="/ppt/notesMasters/notesMaster1.xml" Id="R4945876c052a47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e5dc7c13584611" /><Relationship Type="http://schemas.openxmlformats.org/officeDocument/2006/relationships/notesMaster" Target="/ppt/notesMasters/notesMaster1.xml" Id="Rfad1c484fa9948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03594b451849a7" /><Relationship Type="http://schemas.openxmlformats.org/officeDocument/2006/relationships/notesMaster" Target="/ppt/notesMasters/notesMaster1.xml" Id="Rf37ef61845d442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6a803018704198" /><Relationship Type="http://schemas.openxmlformats.org/officeDocument/2006/relationships/notesMaster" Target="/ppt/notesMasters/notesMaster1.xml" Id="R323368e6bf744c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d8dee32f5b64332" /><Relationship Type="http://schemas.openxmlformats.org/officeDocument/2006/relationships/notesMaster" Target="/ppt/notesMasters/notesMaster1.xml" Id="Rc395c417ee7042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a459b4dc104837" /><Relationship Type="http://schemas.openxmlformats.org/officeDocument/2006/relationships/notesMaster" Target="/ppt/notesMasters/notesMaster1.xml" Id="R89369468bc4e415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c0e12dc594d2a" /><Relationship Type="http://schemas.openxmlformats.org/officeDocument/2006/relationships/notesMaster" Target="/ppt/notesMasters/notesMaster1.xml" Id="Rc4426f63cedb46c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6e0dd5b0fe4cda" /><Relationship Type="http://schemas.openxmlformats.org/officeDocument/2006/relationships/notesMaster" Target="/ppt/notesMasters/notesMaster1.xml" Id="Ra74296e5822a4a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9a658190ba473c" /><Relationship Type="http://schemas.openxmlformats.org/officeDocument/2006/relationships/notesMaster" Target="/ppt/notesMasters/notesMaster1.xml" Id="R04f7d4ca0b0c4b2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28090d6e9c946f0" /><Relationship Type="http://schemas.openxmlformats.org/officeDocument/2006/relationships/notesMaster" Target="/ppt/notesMasters/notesMaster1.xml" Id="R0a7c34f6737946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85538a78f4d4678" /><Relationship Type="http://schemas.openxmlformats.org/officeDocument/2006/relationships/notesMaster" Target="/ppt/notesMasters/notesMaster1.xml" Id="Re4bf4923ce38456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17c22e44404f74" /><Relationship Type="http://schemas.openxmlformats.org/officeDocument/2006/relationships/notesMaster" Target="/ppt/notesMasters/notesMaster1.xml" Id="Rd508801985654e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this as a setup and shared-language session. The code repository and assignment directions will follow after the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scope clear. Students do not need to program Blackhole today. They need enough systems vocabulary to understand why later accelerator work cares about instructions, locality, and parallel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setup.md as the source of truth. The shared minimum is Git, an editor, a terminal, and a C compiler. Students may have different operating systems and different compiler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open the repository root, not only the lab subfolder. Opening the root makes the full project structure and Git status available. For WSL, code . opens the current Linux folder in VS Code through the WSL integration.</a:t>
            </a:r>
          </a:p>
          <a:p xmlns:a="http://schemas.openxmlformats.org/drawingml/2006/main">
            <a:r>
              <a:t/>
            </a:r>
          </a:p>
          <a:p xmlns:a="http://schemas.openxmlformats.org/drawingml/2006/main">
            <a:r>
              <a:t>Sources:</a:t>
            </a:r>
          </a:p>
          <a:p xmlns:a="http://schemas.openxmlformats.org/drawingml/2006/main">
            <a:r>
              <a:t>https://code.visualstudio.com/docs/terminal/basics</a:t>
            </a:r>
          </a:p>
          <a:p xmlns:a="http://schemas.openxmlformats.org/drawingml/2006/main">
            <a:r>
              <a:t>https://code.visualstudio.com/docs/remote/wsl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three locations clearly. The original repository is commonly called upstream. Their GitHub fork is commonly called origin after they clone it. The local clone is the folder where they edit and compile. A change in one location does not automatically appear in the other two.</a:t>
            </a:r>
          </a:p>
          <a:p xmlns:a="http://schemas.openxmlformats.org/drawingml/2006/main">
            <a:r>
              <a:t/>
            </a:r>
          </a:p>
          <a:p xmlns:a="http://schemas.openxmlformats.org/drawingml/2006/main">
            <a:r>
              <a:t>Source: https://docs.github.com/en/get-started/git-basics/managing-remote-repositories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who cloned their fork usually have origin pointed at that fork. Git pull therefore retrieves changes already present in the fork. The GitHub Sync fork action first brings changes from rvfvn/blackhole into their fork. The two terminal commands then update the local main branch. Ask students to sync before creating a new work branch. If GitHub reports a conflict, pause and ask for help.</a:t>
            </a:r>
          </a:p>
          <a:p xmlns:a="http://schemas.openxmlformats.org/drawingml/2006/main">
            <a:r>
              <a:t/>
            </a:r>
          </a:p>
          <a:p xmlns:a="http://schemas.openxmlformats.org/drawingml/2006/main">
            <a:r>
              <a:t>Source: https://docs.github.com/en/pull-requests/how-tos/work-with-forks/syncing-a-fork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macOS, the Xcode Command Line Tools package provides Clang and other command-line development tools. On Ubuntu or Debian, build-essential provides the standard build toolchain. Other Linux distributions use different package managers.</a:t>
            </a:r>
          </a:p>
          <a:p xmlns:a="http://schemas.openxmlformats.org/drawingml/2006/main">
            <a:r>
              <a:t/>
            </a:r>
          </a:p>
          <a:p xmlns:a="http://schemas.openxmlformats.org/drawingml/2006/main">
            <a:r>
              <a:t>Source: https://developer.apple.com/documentation/xcode/installing-the-command-line-tools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WSL gives Windows students a Linux command-line environment, which keeps the lab commands consistent across the group. A restart may be required after installation. Native Windows toolchains may also work, but WSL is the recommended course path.</a:t>
            </a:r>
          </a:p>
          <a:p xmlns:a="http://schemas.openxmlformats.org/drawingml/2006/main">
            <a:r>
              <a:t/>
            </a:r>
          </a:p>
          <a:p xmlns:a="http://schemas.openxmlformats.org/drawingml/2006/main">
            <a:r>
              <a:t>Source: https://learn.microsoft.com/en-us/windows/wsl/install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only the purpose of the command today. cc invokes the available C compiler, the flags request C11 and warnings, -O2 enables optimization, -Iinclude adds the header folder, and src/*.c selects the source files. CMake is optional and not part of the student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presenting the CPU as literally doing only one instruction at a time. Modern CPUs overlap and reorder work. The beginner model is that programs become instruction streams operating on values and memory.</a:t>
            </a:r>
          </a:p>
          <a:p xmlns:a="http://schemas.openxmlformats.org/drawingml/2006/main">
            <a:r>
              <a:t/>
            </a:r>
          </a:p>
          <a:p xmlns:a="http://schemas.openxmlformats.org/drawingml/2006/main">
            <a:r>
              <a:t>Source: https://pages.cs.wisc.edu/~markhill/cs354/Fall2008/notes/basics.html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small amount of operating-system context the lab needs. A process is a running instance of the program with memory and operating-system resources. Keep details such as virtual memory and scheduling for later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only need to recognize categories. They do not need to memorize an instruction set. Later, the assembly view will show these categories in compiler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cache design varies across machines. The useful model is distance and capacity: small storage near compute is quick to access, while larger memory is farther away. Hardware moves blocks called cache lines, so nearby addresses often help.</a:t>
            </a:r>
          </a:p>
          <a:p xmlns:a="http://schemas.openxmlformats.org/drawingml/2006/main">
            <a:r>
              <a:t/>
            </a:r>
          </a:p>
          <a:p xmlns:a="http://schemas.openxmlformats.org/drawingml/2006/main">
            <a:r>
              <a:t>Source: https://www.cs.cornell.edu/courses/cs3410/2024fa/notes/caches.html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question for every experiment. Keep returning to it. Students should separate mathematical work from the path data takes through the machine.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each experiment to one observation. Stride shows locality. Row and column traversal shows how a two-dimensional idea maps to linear memory. Bandwidth copy shows that movement itself consumes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results will vary across CPUs, operating systems, compilers, and power settings. In the code, allocate memory outside the timed region, use a monotonic clock, and consume results so the compiler cannot remove the work. The goal is a repeatable pattern, not one universal timing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a tiny example verbally if needed, such as one row of A dotted with one column of B. Matmul matters here because it combines regular arithmetic with repeated data access, making it useful for both machine learning and architecture discussions.</a:t>
            </a:r>
          </a:p>
          <a:p xmlns:a="http://schemas.openxmlformats.org/drawingml/2006/main">
            <a:r>
              <a:t/>
            </a:r>
          </a:p>
          <a:p xmlns:a="http://schemas.openxmlformats.org/drawingml/2006/main">
            <a:r>
              <a:t>Source: https://docs.tenstorrent.com/tt-metal/latest/tt-metalium/tt_metal/labs/matmul/lab1/lab1.html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row-major storage, varying k in B[k][j] steps by an entire row. Using a pre-transposed B makes the inner reads contiguous. Be honest about setup cost: a one-time transpose has a cost, but repeated matrix multiplications may amortize it. Floating-point results can also differ slightly when operation order changes.</a:t>
            </a:r>
          </a:p>
          <a:p xmlns:a="http://schemas.openxmlformats.org/drawingml/2006/main">
            <a:r>
              <a:t/>
            </a:r>
          </a:p>
          <a:p xmlns:a="http://schemas.openxmlformats.org/drawingml/2006/main">
            <a:r>
              <a:t>Source: https://docs.tenstorrent.com/tt-metal/latest/tt-metalium/tt_metal/labs/matmul/lab1/lab1.html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Assembly differs across x86 and Arm machines, and compilers may optimize the same C code differently. Ask students to identify categories and loop structure. Do not turn this into an instruction-set memorization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experiment introduces work division without requiring deep operating-system coverage. Threads share the process memory. The operating system schedules them, and available CPU cores determine how much can truly run at once. Keep it optional because threading support and performance vary across 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that CPUs are bad or obsolete. CPUs excel at general-purpose control and varied workloads. Accelerators add hardware organized around regular, high-throughput numerical computation, where data supply and reuse matter as much as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post should repeat the exact synchronization and branch commands. Students should update main before they create a work branch. Each contribution should fit the shared interface so that the group work compiles into one benchmark executable.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here. Blackhole makes data placement, movement, and parallel work more explicit. Students do not need the internal details yet. The CPU experiments give them concrete observations that later map to local SRAM, NoC transfers, Tensix cores, RISC-V control, and matrix or vector engines.</a:t>
            </a:r>
          </a:p>
          <a:p xmlns:a="http://schemas.openxmlformats.org/drawingml/2006/main">
            <a:r>
              <a:t/>
            </a:r>
          </a:p>
          <a:p xmlns:a="http://schemas.openxmlformats.org/drawingml/2006/main">
            <a:r>
              <a:t>Sources:</a:t>
            </a:r>
          </a:p>
          <a:p xmlns:a="http://schemas.openxmlformats.org/drawingml/2006/main">
            <a:r>
              <a:t>https://docs.tenstorrent.com/tt-metal/latest/tt-metalium/tt_metal/labs/matmul/lab1/lab1.html</a:t>
            </a:r>
          </a:p>
          <a:p xmlns:a="http://schemas.openxmlformats.org/drawingml/2006/main">
            <a:r>
              <a:t>https://docs.tenstorrent.com/aibs/blackhole/installation.html</a:t>
            </a:r>
          </a:p>
          <a:p xmlns:a="http://schemas.openxmlformats.org/drawingml/2006/main">
            <a:r>
              <a:t>https://docs.tenstorrent.com/tt-metal/latest/tt-metalium/tt_metal/advanced_topics/compute_engines_and_dataflow_within_tensix.html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489da3aad747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a17d1a16094430" /><Relationship Type="http://schemas.openxmlformats.org/officeDocument/2006/relationships/slideLayout" Target="/ppt/slideLayouts/slideLayout1.xml" Id="R1f5292dd76a849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5292dd76a849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990bdf0c7e45e0" /><Relationship Type="http://schemas.openxmlformats.org/officeDocument/2006/relationships/notesSlide" Target="/ppt/notesSlides/notesSlide1.xml" Id="R1703e115459c4f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142f6ff29d4227" /><Relationship Type="http://schemas.openxmlformats.org/officeDocument/2006/relationships/notesSlide" Target="/ppt/notesSlides/notesSlide2.xml" Id="R14535483e32f44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ea761242924748" /><Relationship Type="http://schemas.openxmlformats.org/officeDocument/2006/relationships/notesSlide" Target="/ppt/notesSlides/notesSlide3.xml" Id="R5342758c1c0649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50dec1eeba48c8" /><Relationship Type="http://schemas.openxmlformats.org/officeDocument/2006/relationships/notesSlide" Target="/ppt/notesSlides/notesSlide4.xml" Id="Rbc9ee99c17a746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95492d302f489a" /><Relationship Type="http://schemas.openxmlformats.org/officeDocument/2006/relationships/notesSlide" Target="/ppt/notesSlides/notesSlide5.xml" Id="R4953fdad93e04d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21173e2c8d4d73" /><Relationship Type="http://schemas.openxmlformats.org/officeDocument/2006/relationships/notesSlide" Target="/ppt/notesSlides/notesSlide6.xml" Id="Rcb7d8a5786fb41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89547ab65445db" /><Relationship Type="http://schemas.openxmlformats.org/officeDocument/2006/relationships/notesSlide" Target="/ppt/notesSlides/notesSlide7.xml" Id="Rd921003bc93a4e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d96387ff5d4824" /><Relationship Type="http://schemas.openxmlformats.org/officeDocument/2006/relationships/notesSlide" Target="/ppt/notesSlides/notesSlide8.xml" Id="R5b82b320bc7e4a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1d718aa3fa644d5" /><Relationship Type="http://schemas.openxmlformats.org/officeDocument/2006/relationships/notesSlide" Target="/ppt/notesSlides/notesSlide9.xml" Id="R680a73c5228b41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78a959aa79482a" /><Relationship Type="http://schemas.openxmlformats.org/officeDocument/2006/relationships/notesSlide" Target="/ppt/notesSlides/notesSlide10.xml" Id="R2deb05bfcb2a4d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62da0fdad74b3e" /><Relationship Type="http://schemas.openxmlformats.org/officeDocument/2006/relationships/notesSlide" Target="/ppt/notesSlides/notesSlide11.xml" Id="R8043b6d1a0e142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d4325cd4fbf4cb0" /><Relationship Type="http://schemas.openxmlformats.org/officeDocument/2006/relationships/notesSlide" Target="/ppt/notesSlides/notesSlide12.xml" Id="R87e747680fa742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58d23d24bb4e76" /><Relationship Type="http://schemas.openxmlformats.org/officeDocument/2006/relationships/notesSlide" Target="/ppt/notesSlides/notesSlide13.xml" Id="R2d56b2069ae046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ba6c62b3194bb8" /><Relationship Type="http://schemas.openxmlformats.org/officeDocument/2006/relationships/notesSlide" Target="/ppt/notesSlides/notesSlide14.xml" Id="R80f283ae44a042f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14928def98a4d58" /><Relationship Type="http://schemas.openxmlformats.org/officeDocument/2006/relationships/notesSlide" Target="/ppt/notesSlides/notesSlide15.xml" Id="R1378263878c24d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92ae7e2f8b43bd" /><Relationship Type="http://schemas.openxmlformats.org/officeDocument/2006/relationships/notesSlide" Target="/ppt/notesSlides/notesSlide16.xml" Id="R61238c05fa874ea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f1a8eb4728d4aa9" /><Relationship Type="http://schemas.openxmlformats.org/officeDocument/2006/relationships/notesSlide" Target="/ppt/notesSlides/notesSlide17.xml" Id="Rfcbaca1f804941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907a0260b0d43b1" /><Relationship Type="http://schemas.openxmlformats.org/officeDocument/2006/relationships/notesSlide" Target="/ppt/notesSlides/notesSlide18.xml" Id="R35801f09fe704d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5b337362554efa" /><Relationship Type="http://schemas.openxmlformats.org/officeDocument/2006/relationships/notesSlide" Target="/ppt/notesSlides/notesSlide19.xml" Id="Rf0eee0e6b67c4d8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41f7458d42a4789" /><Relationship Type="http://schemas.openxmlformats.org/officeDocument/2006/relationships/notesSlide" Target="/ppt/notesSlides/notesSlide20.xml" Id="Rb1b339507e834d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443a902cdd64c6f" /><Relationship Type="http://schemas.openxmlformats.org/officeDocument/2006/relationships/notesSlide" Target="/ppt/notesSlides/notesSlide21.xml" Id="Ra60709198ece48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6506dae253f474f" /><Relationship Type="http://schemas.openxmlformats.org/officeDocument/2006/relationships/notesSlide" Target="/ppt/notesSlides/notesSlide22.xml" Id="R9ba9c71b50e94b9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571303c299048f6" /><Relationship Type="http://schemas.openxmlformats.org/officeDocument/2006/relationships/notesSlide" Target="/ppt/notesSlides/notesSlide23.xml" Id="R73c462ebbdd142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2C8F3E3-20A8-47BA-BC8D-C540DD1F1563}"/>
              </a:ext>
            </a:extLst>
          </p:cNvPr>
          <p:cNvSpPr>
            <a:spLocks xmlns:a="http://schemas.openxmlformats.org/drawingml/2006/main" noGrp="1"/>
          </p:cNvSpPr>
          <p:nvPr/>
        </p:nvSpPr>
        <p:spPr>
          <a:xfrm xmlns:a="http://schemas.openxmlformats.org/drawingml/2006/main">
            <a:off x="85725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1717"/>
                </a:solidFill>
                <a:latin typeface="Arial"/>
                <a:ea typeface="Arial"/>
                <a:cs typeface="Arial"/>
              </a:defRPr>
            </a:pPr>
            <a:r>
              <a:rPr sz="4350" b="1">
                <a:solidFill>
                  <a:srgbClr val="171717"/>
                </a:solidFill>
                <a:latin typeface="Arial"/>
                <a:ea typeface="Arial"/>
                <a:cs typeface="Arial"/>
              </a:rPr>
              <a:t>CPU Execution Lab</a:t>
            </a:r>
          </a:p>
        </p:txBody>
      </p:sp>
      <p:sp>
        <p:nvSpPr>
          <p:cNvPr id="2" name="">
            <a:extLst xmlns:a="http://schemas.openxmlformats.org/drawingml/2006/main">
              <a:ext uri="{FF2B5EF4-FFF2-40B4-BE49-F238E27FC236}">
                <a16:creationId xmlns:a16="http://schemas.microsoft.com/office/drawing/2014/main" id="{88C88798-8305-4F8B-8540-995486467C15}"/>
              </a:ext>
            </a:extLst>
          </p:cNvPr>
          <p:cNvSpPr>
            <a:spLocks xmlns:a="http://schemas.openxmlformats.org/drawingml/2006/main" noGrp="1"/>
          </p:cNvSpPr>
          <p:nvPr/>
        </p:nvSpPr>
        <p:spPr>
          <a:xfrm xmlns:a="http://schemas.openxmlformats.org/drawingml/2006/main">
            <a:off x="876300" y="290512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a:solidFill>
                  <a:srgbClr val="555555"/>
                </a:solidFill>
                <a:latin typeface="Arial"/>
                <a:ea typeface="Arial"/>
                <a:cs typeface="Arial"/>
              </a:defRPr>
            </a:pPr>
            <a:r>
              <a:rPr sz="2400">
                <a:solidFill>
                  <a:srgbClr val="555555"/>
                </a:solidFill>
                <a:latin typeface="Arial"/>
                <a:ea typeface="Arial"/>
                <a:cs typeface="Arial"/>
              </a:rPr>
              <a:t>Session 1: Setup and systems foundations</a:t>
            </a:r>
          </a:p>
        </p:txBody>
      </p:sp>
      <p:sp>
        <p:nvSpPr>
          <p:cNvPr id="3" name="">
            <a:extLst xmlns:a="http://schemas.openxmlformats.org/drawingml/2006/main">
              <a:ext uri="{FF2B5EF4-FFF2-40B4-BE49-F238E27FC236}">
                <a16:creationId xmlns:a16="http://schemas.microsoft.com/office/drawing/2014/main" id="{043A8E41-1C86-41EC-AB57-C6CD1C9CDFB3}"/>
              </a:ext>
            </a:extLst>
          </p:cNvPr>
          <p:cNvSpPr>
            <a:spLocks xmlns:a="http://schemas.openxmlformats.org/drawingml/2006/main" noGrp="1"/>
          </p:cNvSpPr>
          <p:nvPr/>
        </p:nvSpPr>
        <p:spPr>
          <a:xfrm xmlns:a="http://schemas.openxmlformats.org/drawingml/2006/main">
            <a:off x="876300" y="36385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a:solidFill>
                  <a:srgbClr val="1F4E79"/>
                </a:solidFill>
                <a:latin typeface="Arial"/>
                <a:ea typeface="Arial"/>
                <a:cs typeface="Arial"/>
              </a:defRPr>
            </a:pPr>
            <a:r>
              <a:rPr sz="1725">
                <a:solidFill>
                  <a:srgbClr val="1F4E79"/>
                </a:solidFill>
                <a:latin typeface="Arial"/>
                <a:ea typeface="Arial"/>
                <a:cs typeface="Arial"/>
              </a:rPr>
              <a:t>CAIR Tenstorrent Blackhole Project, September 15, 2026</a:t>
            </a:r>
          </a:p>
        </p:txBody>
      </p:sp>
    </p:spTree>
    <p:extLst>
      <p:ext uri="{BB962C8B-B14F-4D97-AF65-F5344CB8AC3E}">
        <p14:creationId xmlns:p14="http://schemas.microsoft.com/office/powerpoint/2010/main" val="1498008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E6A01FF-DD3C-4149-B991-8D457C799D59}"/>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Session plan</a:t>
            </a:r>
          </a:p>
        </p:txBody>
      </p:sp>
      <p:sp>
        <p:nvSpPr>
          <p:cNvPr id="2" name="">
            <a:extLst xmlns:a="http://schemas.openxmlformats.org/drawingml/2006/main">
              <a:ext uri="{FF2B5EF4-FFF2-40B4-BE49-F238E27FC236}">
                <a16:creationId xmlns:a16="http://schemas.microsoft.com/office/drawing/2014/main" id="{DAB7B9F5-44D4-47CD-9EB4-D7481B041B55}"/>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Confirm that everyone has the tools needed for the lab</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Build a simple model of CPU execution and memory</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Preview the experiments that will become the shared benchmark</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Connect the CPU observations to machine learning and Blackhole</a:t>
            </a:r>
          </a:p>
        </p:txBody>
      </p:sp>
      <p:sp>
        <p:nvSpPr>
          <p:cNvPr id="3" name="">
            <a:extLst xmlns:a="http://schemas.openxmlformats.org/drawingml/2006/main">
              <a:ext uri="{FF2B5EF4-FFF2-40B4-BE49-F238E27FC236}">
                <a16:creationId xmlns:a16="http://schemas.microsoft.com/office/drawing/2014/main" id="{8A7595FD-1C11-47FD-8516-16A23F071E86}"/>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2</a:t>
            </a:r>
          </a:p>
        </p:txBody>
      </p:sp>
    </p:spTree>
    <p:extLst>
      <p:ext uri="{BB962C8B-B14F-4D97-AF65-F5344CB8AC3E}">
        <p14:creationId xmlns:p14="http://schemas.microsoft.com/office/powerpoint/2010/main" val="20810743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2C2D0DE-FB09-4030-83CB-32A489ED367E}"/>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Setup checklist</a:t>
            </a:r>
          </a:p>
        </p:txBody>
      </p:sp>
      <p:sp>
        <p:nvSpPr>
          <p:cNvPr id="2" name="">
            <a:extLst xmlns:a="http://schemas.openxmlformats.org/drawingml/2006/main">
              <a:ext uri="{FF2B5EF4-FFF2-40B4-BE49-F238E27FC236}">
                <a16:creationId xmlns:a16="http://schemas.microsoft.com/office/drawing/2014/main" id="{E1F353D4-8295-475F-833D-5FC5178D05FD}"/>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Git is installed and prints a version</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Visual Studio Code opens normally</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A terminal opens and accepts commands</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At least one C compiler prints a version</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Your GitHub fork exists and its local clone opens in VS Code</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Lab 1 does not require CMake, Python packages, a GPU, or a Tenstorrent card</a:t>
            </a:r>
          </a:p>
        </p:txBody>
      </p:sp>
      <p:sp>
        <p:nvSpPr>
          <p:cNvPr id="3" name="">
            <a:extLst xmlns:a="http://schemas.openxmlformats.org/drawingml/2006/main">
              <a:ext uri="{FF2B5EF4-FFF2-40B4-BE49-F238E27FC236}">
                <a16:creationId xmlns:a16="http://schemas.microsoft.com/office/drawing/2014/main" id="{D1A71766-E65F-4377-B28A-EEC1EB8AC859}"/>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3</a:t>
            </a:r>
          </a:p>
        </p:txBody>
      </p:sp>
    </p:spTree>
    <p:extLst>
      <p:ext uri="{BB962C8B-B14F-4D97-AF65-F5344CB8AC3E}">
        <p14:creationId xmlns:p14="http://schemas.microsoft.com/office/powerpoint/2010/main" val="1359680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166EA0-CAC3-43C5-9DDA-FBB31FFD7CF7}"/>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Opening your cloned fork in VS Code</a:t>
            </a:r>
          </a:p>
        </p:txBody>
      </p:sp>
      <p:sp>
        <p:nvSpPr>
          <p:cNvPr id="2" name="">
            <a:extLst xmlns:a="http://schemas.openxmlformats.org/drawingml/2006/main">
              <a:ext uri="{FF2B5EF4-FFF2-40B4-BE49-F238E27FC236}">
                <a16:creationId xmlns:a16="http://schemas.microsoft.com/office/drawing/2014/main" id="{C6FAE615-BDA0-4895-B1BB-D307DD39EC16}"/>
              </a:ext>
            </a:extLst>
          </p:cNvPr>
          <p:cNvSpPr>
            <a:spLocks xmlns:a="http://schemas.openxmlformats.org/drawingml/2006/main" noGrp="1"/>
          </p:cNvSpPr>
          <p:nvPr/>
        </p:nvSpPr>
        <p:spPr>
          <a:xfrm xmlns:a="http://schemas.openxmlformats.org/drawingml/2006/main">
            <a:off x="876300" y="1381125"/>
            <a:ext cx="1038225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Open the Visual Studio Code application</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Select File &gt; Open Folder</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Find the location where you cloned your fork</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Select the main blackhole folder, then open it</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Confirm that README.md and the labs folder appear in the Explorer</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Select Terminal &gt; New Terminal, then run git status</a:t>
            </a:r>
          </a:p>
        </p:txBody>
      </p:sp>
      <p:sp>
        <p:nvSpPr>
          <p:cNvPr id="3" name="">
            <a:extLst xmlns:a="http://schemas.openxmlformats.org/drawingml/2006/main">
              <a:ext uri="{FF2B5EF4-FFF2-40B4-BE49-F238E27FC236}">
                <a16:creationId xmlns:a16="http://schemas.microsoft.com/office/drawing/2014/main" id="{25281476-D3D1-487D-9F86-2E309E250B5A}"/>
              </a:ext>
            </a:extLst>
          </p:cNvPr>
          <p:cNvSpPr>
            <a:spLocks xmlns:a="http://schemas.openxmlformats.org/drawingml/2006/main" noGrp="1"/>
          </p:cNvSpPr>
          <p:nvPr/>
        </p:nvSpPr>
        <p:spPr>
          <a:xfrm xmlns:a="http://schemas.openxmlformats.org/drawingml/2006/main">
            <a:off x="876300" y="53816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i="1">
                <a:solidFill>
                  <a:srgbClr val="555555"/>
                </a:solidFill>
                <a:latin typeface="Arial"/>
                <a:ea typeface="Arial"/>
                <a:cs typeface="Arial"/>
              </a:defRPr>
            </a:pPr>
            <a:r>
              <a:rPr sz="1650" i="1">
                <a:solidFill>
                  <a:srgbClr val="555555"/>
                </a:solidFill>
                <a:latin typeface="Arial"/>
                <a:ea typeface="Arial"/>
                <a:cs typeface="Arial"/>
              </a:rPr>
              <a:t>WSL: open Ubuntu, enter the cloned repository, and run code .</a:t>
            </a:r>
          </a:p>
          <a:p xmlns:a="http://schemas.openxmlformats.org/drawingml/2006/main">
            <a:pPr>
              <a:defRPr sz="1650" i="1">
                <a:solidFill>
                  <a:srgbClr val="555555"/>
                </a:solidFill>
                <a:latin typeface="Arial"/>
                <a:ea typeface="Arial"/>
                <a:cs typeface="Arial"/>
              </a:defRPr>
            </a:pPr>
            <a:r>
              <a:rPr sz="1650" i="1">
                <a:solidFill>
                  <a:srgbClr val="555555"/>
                </a:solidFill>
                <a:latin typeface="Arial"/>
                <a:ea typeface="Arial"/>
                <a:cs typeface="Arial"/>
              </a:rPr>
              <a:t>VS Code may ask you to install its WSL extension.</a:t>
            </a:r>
          </a:p>
        </p:txBody>
      </p:sp>
      <p:sp>
        <p:nvSpPr>
          <p:cNvPr id="4" name="">
            <a:extLst xmlns:a="http://schemas.openxmlformats.org/drawingml/2006/main">
              <a:ext uri="{FF2B5EF4-FFF2-40B4-BE49-F238E27FC236}">
                <a16:creationId xmlns:a16="http://schemas.microsoft.com/office/drawing/2014/main" id="{A8EC0716-6914-4AB4-8E0B-F26CB9F30A25}"/>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4</a:t>
            </a:r>
          </a:p>
        </p:txBody>
      </p:sp>
    </p:spTree>
    <p:extLst>
      <p:ext uri="{BB962C8B-B14F-4D97-AF65-F5344CB8AC3E}">
        <p14:creationId xmlns:p14="http://schemas.microsoft.com/office/powerpoint/2010/main" val="14109726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F76386-31AD-477D-B45D-BB6378E76B72}"/>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Three copies of the repository</a:t>
            </a:r>
          </a:p>
        </p:txBody>
      </p:sp>
      <p:sp>
        <p:nvSpPr>
          <p:cNvPr id="2" name="">
            <a:extLst xmlns:a="http://schemas.openxmlformats.org/drawingml/2006/main">
              <a:ext uri="{FF2B5EF4-FFF2-40B4-BE49-F238E27FC236}">
                <a16:creationId xmlns:a16="http://schemas.microsoft.com/office/drawing/2014/main" id="{FDD2172C-0AD2-4E26-962D-F378AE5784CF}"/>
              </a:ext>
            </a:extLst>
          </p:cNvPr>
          <p:cNvSpPr>
            <a:spLocks xmlns:a="http://schemas.openxmlformats.org/drawingml/2006/main" noGrp="1"/>
          </p:cNvSpPr>
          <p:nvPr/>
        </p:nvSpPr>
        <p:spPr>
          <a:xfrm xmlns:a="http://schemas.openxmlformats.org/drawingml/2006/main">
            <a:off x="876300" y="14763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Original repository</a:t>
            </a:r>
          </a:p>
        </p:txBody>
      </p:sp>
      <p:sp>
        <p:nvSpPr>
          <p:cNvPr id="3" name="">
            <a:extLst xmlns:a="http://schemas.openxmlformats.org/drawingml/2006/main">
              <a:ext uri="{FF2B5EF4-FFF2-40B4-BE49-F238E27FC236}">
                <a16:creationId xmlns:a16="http://schemas.microsoft.com/office/drawing/2014/main" id="{2B7159A6-FA3D-4C8B-9A0D-18C7C853C71D}"/>
              </a:ext>
            </a:extLst>
          </p:cNvPr>
          <p:cNvSpPr>
            <a:spLocks xmlns:a="http://schemas.openxmlformats.org/drawingml/2006/main" noGrp="1"/>
          </p:cNvSpPr>
          <p:nvPr/>
        </p:nvSpPr>
        <p:spPr>
          <a:xfrm xmlns:a="http://schemas.openxmlformats.org/drawingml/2006/main">
            <a:off x="4476750" y="147637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rvfvn/blackhole</a:t>
            </a:r>
          </a:p>
        </p:txBody>
      </p:sp>
      <p:sp>
        <p:nvSpPr>
          <p:cNvPr id="4" name="">
            <a:extLst xmlns:a="http://schemas.openxmlformats.org/drawingml/2006/main">
              <a:ext uri="{FF2B5EF4-FFF2-40B4-BE49-F238E27FC236}">
                <a16:creationId xmlns:a16="http://schemas.microsoft.com/office/drawing/2014/main" id="{6C684DCA-73D4-4CDD-8996-3141401FA988}"/>
              </a:ext>
            </a:extLst>
          </p:cNvPr>
          <p:cNvSpPr>
            <a:spLocks xmlns:a="http://schemas.openxmlformats.org/drawingml/2006/main" noGrp="1"/>
          </p:cNvSpPr>
          <p:nvPr/>
        </p:nvSpPr>
        <p:spPr>
          <a:xfrm xmlns:a="http://schemas.openxmlformats.org/drawingml/2006/main">
            <a:off x="876300" y="2524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Your GitHub fork</a:t>
            </a:r>
          </a:p>
        </p:txBody>
      </p:sp>
      <p:sp>
        <p:nvSpPr>
          <p:cNvPr id="5" name="">
            <a:extLst xmlns:a="http://schemas.openxmlformats.org/drawingml/2006/main">
              <a:ext uri="{FF2B5EF4-FFF2-40B4-BE49-F238E27FC236}">
                <a16:creationId xmlns:a16="http://schemas.microsoft.com/office/drawing/2014/main" id="{EFC985E6-D583-4861-8051-B287A14F3AD1}"/>
              </a:ext>
            </a:extLst>
          </p:cNvPr>
          <p:cNvSpPr>
            <a:spLocks xmlns:a="http://schemas.openxmlformats.org/drawingml/2006/main" noGrp="1"/>
          </p:cNvSpPr>
          <p:nvPr/>
        </p:nvSpPr>
        <p:spPr>
          <a:xfrm xmlns:a="http://schemas.openxmlformats.org/drawingml/2006/main">
            <a:off x="4476750" y="252412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your-username/blackhole</a:t>
            </a:r>
          </a:p>
        </p:txBody>
      </p:sp>
      <p:sp>
        <p:nvSpPr>
          <p:cNvPr id="6" name="">
            <a:extLst xmlns:a="http://schemas.openxmlformats.org/drawingml/2006/main">
              <a:ext uri="{FF2B5EF4-FFF2-40B4-BE49-F238E27FC236}">
                <a16:creationId xmlns:a16="http://schemas.microsoft.com/office/drawing/2014/main" id="{9BCACB5C-B234-41DB-800F-F15E2108A440}"/>
              </a:ext>
            </a:extLst>
          </p:cNvPr>
          <p:cNvSpPr>
            <a:spLocks xmlns:a="http://schemas.openxmlformats.org/drawingml/2006/main" noGrp="1"/>
          </p:cNvSpPr>
          <p:nvPr/>
        </p:nvSpPr>
        <p:spPr>
          <a:xfrm xmlns:a="http://schemas.openxmlformats.org/drawingml/2006/main">
            <a:off x="876300" y="35718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Your local clone</a:t>
            </a:r>
          </a:p>
        </p:txBody>
      </p:sp>
      <p:sp>
        <p:nvSpPr>
          <p:cNvPr id="7" name="">
            <a:extLst xmlns:a="http://schemas.openxmlformats.org/drawingml/2006/main">
              <a:ext uri="{FF2B5EF4-FFF2-40B4-BE49-F238E27FC236}">
                <a16:creationId xmlns:a16="http://schemas.microsoft.com/office/drawing/2014/main" id="{40EEE882-74FB-4DCE-B5E4-ADA826BA47CB}"/>
              </a:ext>
            </a:extLst>
          </p:cNvPr>
          <p:cNvSpPr>
            <a:spLocks xmlns:a="http://schemas.openxmlformats.org/drawingml/2006/main" noGrp="1"/>
          </p:cNvSpPr>
          <p:nvPr/>
        </p:nvSpPr>
        <p:spPr>
          <a:xfrm xmlns:a="http://schemas.openxmlformats.org/drawingml/2006/main">
            <a:off x="4476750" y="3571875"/>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F4E79"/>
                </a:solidFill>
                <a:latin typeface="Arial"/>
                <a:ea typeface="Arial"/>
                <a:cs typeface="Arial"/>
              </a:defRPr>
            </a:pPr>
            <a:r>
              <a:rPr sz="2100">
                <a:solidFill>
                  <a:srgbClr val="1F4E79"/>
                </a:solidFill>
                <a:latin typeface="Arial"/>
                <a:ea typeface="Arial"/>
                <a:cs typeface="Arial"/>
              </a:rPr>
              <a:t>the folder stored on your computer</a:t>
            </a:r>
          </a:p>
        </p:txBody>
      </p:sp>
      <p:sp>
        <p:nvSpPr>
          <p:cNvPr id="8" name="">
            <a:extLst xmlns:a="http://schemas.openxmlformats.org/drawingml/2006/main">
              <a:ext uri="{FF2B5EF4-FFF2-40B4-BE49-F238E27FC236}">
                <a16:creationId xmlns:a16="http://schemas.microsoft.com/office/drawing/2014/main" id="{154B7489-E98A-47AE-B8A6-6111EE359E1F}"/>
              </a:ext>
            </a:extLst>
          </p:cNvPr>
          <p:cNvSpPr>
            <a:spLocks xmlns:a="http://schemas.openxmlformats.org/drawingml/2006/main" noGrp="1"/>
          </p:cNvSpPr>
          <p:nvPr/>
        </p:nvSpPr>
        <p:spPr>
          <a:xfrm xmlns:a="http://schemas.openxmlformats.org/drawingml/2006/main">
            <a:off x="876300" y="50006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1717"/>
                </a:solidFill>
                <a:latin typeface="Arial"/>
                <a:ea typeface="Arial"/>
                <a:cs typeface="Arial"/>
              </a:defRPr>
            </a:pPr>
            <a:r>
              <a:rPr sz="2325" b="1">
                <a:solidFill>
                  <a:srgbClr val="171717"/>
                </a:solidFill>
                <a:latin typeface="Arial"/>
                <a:ea typeface="Arial"/>
                <a:cs typeface="Arial"/>
              </a:rPr>
              <a:t>These copies change only when GitHub or Git synchronizes them.</a:t>
            </a:r>
          </a:p>
        </p:txBody>
      </p:sp>
      <p:sp>
        <p:nvSpPr>
          <p:cNvPr id="9" name="">
            <a:extLst xmlns:a="http://schemas.openxmlformats.org/drawingml/2006/main">
              <a:ext uri="{FF2B5EF4-FFF2-40B4-BE49-F238E27FC236}">
                <a16:creationId xmlns:a16="http://schemas.microsoft.com/office/drawing/2014/main" id="{A0C626C1-A9A8-466B-B024-FD2D046644E3}"/>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5</a:t>
            </a:r>
          </a:p>
        </p:txBody>
      </p:sp>
    </p:spTree>
    <p:extLst>
      <p:ext uri="{BB962C8B-B14F-4D97-AF65-F5344CB8AC3E}">
        <p14:creationId xmlns:p14="http://schemas.microsoft.com/office/powerpoint/2010/main" val="14892161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AD62D5-7445-4D23-8B59-22D5E5D29F03}"/>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Keeping your fork current</a:t>
            </a:r>
          </a:p>
        </p:txBody>
      </p:sp>
      <p:sp>
        <p:nvSpPr>
          <p:cNvPr id="2" name="">
            <a:extLst xmlns:a="http://schemas.openxmlformats.org/drawingml/2006/main">
              <a:ext uri="{FF2B5EF4-FFF2-40B4-BE49-F238E27FC236}">
                <a16:creationId xmlns:a16="http://schemas.microsoft.com/office/drawing/2014/main" id="{772A8DF7-13EB-4DF5-BA0B-483F82E80D25}"/>
              </a:ext>
            </a:extLst>
          </p:cNvPr>
          <p:cNvSpPr>
            <a:spLocks xmlns:a="http://schemas.openxmlformats.org/drawingml/2006/main" noGrp="1"/>
          </p:cNvSpPr>
          <p:nvPr/>
        </p:nvSpPr>
        <p:spPr>
          <a:xfrm xmlns:a="http://schemas.openxmlformats.org/drawingml/2006/main">
            <a:off x="876300" y="14287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First, update the fork on GitHub</a:t>
            </a:r>
          </a:p>
        </p:txBody>
      </p:sp>
      <p:sp>
        <p:nvSpPr>
          <p:cNvPr id="3" name="">
            <a:extLst xmlns:a="http://schemas.openxmlformats.org/drawingml/2006/main">
              <a:ext uri="{FF2B5EF4-FFF2-40B4-BE49-F238E27FC236}">
                <a16:creationId xmlns:a16="http://schemas.microsoft.com/office/drawing/2014/main" id="{A17F0576-D61E-41C3-952A-F21A9B051145}"/>
              </a:ext>
            </a:extLst>
          </p:cNvPr>
          <p:cNvSpPr>
            <a:spLocks xmlns:a="http://schemas.openxmlformats.org/drawingml/2006/main" noGrp="1"/>
          </p:cNvSpPr>
          <p:nvPr/>
        </p:nvSpPr>
        <p:spPr>
          <a:xfrm xmlns:a="http://schemas.openxmlformats.org/drawingml/2006/main">
            <a:off x="876300" y="195262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F4E79"/>
                </a:solidFill>
                <a:latin typeface="Arial"/>
                <a:ea typeface="Arial"/>
                <a:cs typeface="Arial"/>
              </a:defRPr>
            </a:pPr>
            <a:r>
              <a:rPr sz="2100">
                <a:solidFill>
                  <a:srgbClr val="1F4E79"/>
                </a:solidFill>
                <a:latin typeface="Arial"/>
                <a:ea typeface="Arial"/>
                <a:cs typeface="Arial"/>
              </a:rPr>
              <a:t>Open your fork, select Sync fork, then select Update branch.</a:t>
            </a:r>
          </a:p>
        </p:txBody>
      </p:sp>
      <p:sp>
        <p:nvSpPr>
          <p:cNvPr id="4" name="">
            <a:extLst xmlns:a="http://schemas.openxmlformats.org/drawingml/2006/main">
              <a:ext uri="{FF2B5EF4-FFF2-40B4-BE49-F238E27FC236}">
                <a16:creationId xmlns:a16="http://schemas.microsoft.com/office/drawing/2014/main" id="{AD4EB80E-373F-4B32-BA3B-A5B04C2104A5}"/>
              </a:ext>
            </a:extLst>
          </p:cNvPr>
          <p:cNvSpPr>
            <a:spLocks xmlns:a="http://schemas.openxmlformats.org/drawingml/2006/main" noGrp="1"/>
          </p:cNvSpPr>
          <p:nvPr/>
        </p:nvSpPr>
        <p:spPr>
          <a:xfrm xmlns:a="http://schemas.openxmlformats.org/drawingml/2006/main">
            <a:off x="876300" y="300037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Next, update the local clone in the VS Code terminal</a:t>
            </a:r>
          </a:p>
        </p:txBody>
      </p:sp>
      <p:sp>
        <p:nvSpPr>
          <p:cNvPr id="5" name="">
            <a:extLst xmlns:a="http://schemas.openxmlformats.org/drawingml/2006/main">
              <a:ext uri="{FF2B5EF4-FFF2-40B4-BE49-F238E27FC236}">
                <a16:creationId xmlns:a16="http://schemas.microsoft.com/office/drawing/2014/main" id="{AD12315D-5CA1-47DD-A39D-D4EBE76E73F8}"/>
              </a:ext>
            </a:extLst>
          </p:cNvPr>
          <p:cNvSpPr>
            <a:spLocks xmlns:a="http://schemas.openxmlformats.org/drawingml/2006/main" noGrp="1"/>
          </p:cNvSpPr>
          <p:nvPr/>
        </p:nvSpPr>
        <p:spPr>
          <a:xfrm xmlns:a="http://schemas.openxmlformats.org/drawingml/2006/main">
            <a:off x="876300" y="357187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git switch main</a:t>
            </a:r>
          </a:p>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git pull origin main</a:t>
            </a:r>
          </a:p>
        </p:txBody>
      </p:sp>
      <p:sp>
        <p:nvSpPr>
          <p:cNvPr id="6" name="">
            <a:extLst xmlns:a="http://schemas.openxmlformats.org/drawingml/2006/main">
              <a:ext uri="{FF2B5EF4-FFF2-40B4-BE49-F238E27FC236}">
                <a16:creationId xmlns:a16="http://schemas.microsoft.com/office/drawing/2014/main" id="{0F861FB6-12D6-4B6A-979E-1D469590BA4D}"/>
              </a:ext>
            </a:extLst>
          </p:cNvPr>
          <p:cNvSpPr>
            <a:spLocks xmlns:a="http://schemas.openxmlformats.org/drawingml/2006/main" noGrp="1"/>
          </p:cNvSpPr>
          <p:nvPr/>
        </p:nvSpPr>
        <p:spPr>
          <a:xfrm xmlns:a="http://schemas.openxmlformats.org/drawingml/2006/main">
            <a:off x="876300" y="50482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i="1">
                <a:solidFill>
                  <a:srgbClr val="555555"/>
                </a:solidFill>
                <a:latin typeface="Arial"/>
                <a:ea typeface="Arial"/>
                <a:cs typeface="Arial"/>
              </a:defRPr>
            </a:pPr>
            <a:r>
              <a:rPr sz="1800" i="1">
                <a:solidFill>
                  <a:srgbClr val="555555"/>
                </a:solidFill>
                <a:latin typeface="Arial"/>
                <a:ea typeface="Arial"/>
                <a:cs typeface="Arial"/>
              </a:rPr>
              <a:t>A plain git pull usually checks your fork. It cannot retrieve new upstream files until the fork has been synchronized.</a:t>
            </a:r>
          </a:p>
        </p:txBody>
      </p:sp>
      <p:sp>
        <p:nvSpPr>
          <p:cNvPr id="7" name="">
            <a:extLst xmlns:a="http://schemas.openxmlformats.org/drawingml/2006/main">
              <a:ext uri="{FF2B5EF4-FFF2-40B4-BE49-F238E27FC236}">
                <a16:creationId xmlns:a16="http://schemas.microsoft.com/office/drawing/2014/main" id="{06758F1B-8EC1-45C1-B5BF-11176B495310}"/>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6</a:t>
            </a:r>
          </a:p>
        </p:txBody>
      </p:sp>
    </p:spTree>
    <p:extLst>
      <p:ext uri="{BB962C8B-B14F-4D97-AF65-F5344CB8AC3E}">
        <p14:creationId xmlns:p14="http://schemas.microsoft.com/office/powerpoint/2010/main" val="13523347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861A66-9119-4994-B92A-27A30029B50D}"/>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Compiler setup on macOS and Linux</a:t>
            </a:r>
          </a:p>
        </p:txBody>
      </p:sp>
      <p:sp>
        <p:nvSpPr>
          <p:cNvPr id="2" name="">
            <a:extLst xmlns:a="http://schemas.openxmlformats.org/drawingml/2006/main">
              <a:ext uri="{FF2B5EF4-FFF2-40B4-BE49-F238E27FC236}">
                <a16:creationId xmlns:a16="http://schemas.microsoft.com/office/drawing/2014/main" id="{BFCCA962-6C92-4EC9-A3FF-1DA896AC737D}"/>
              </a:ext>
            </a:extLst>
          </p:cNvPr>
          <p:cNvSpPr>
            <a:spLocks xmlns:a="http://schemas.openxmlformats.org/drawingml/2006/main" noGrp="1"/>
          </p:cNvSpPr>
          <p:nvPr/>
        </p:nvSpPr>
        <p:spPr>
          <a:xfrm xmlns:a="http://schemas.openxmlformats.org/drawingml/2006/main">
            <a:off x="876300" y="14287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macOS</a:t>
            </a:r>
          </a:p>
        </p:txBody>
      </p:sp>
      <p:sp>
        <p:nvSpPr>
          <p:cNvPr id="3" name="">
            <a:extLst xmlns:a="http://schemas.openxmlformats.org/drawingml/2006/main">
              <a:ext uri="{FF2B5EF4-FFF2-40B4-BE49-F238E27FC236}">
                <a16:creationId xmlns:a16="http://schemas.microsoft.com/office/drawing/2014/main" id="{054FBED3-58B5-4298-8DEE-EDE0D44AFCD2}"/>
              </a:ext>
            </a:extLst>
          </p:cNvPr>
          <p:cNvSpPr>
            <a:spLocks xmlns:a="http://schemas.openxmlformats.org/drawingml/2006/main" noGrp="1"/>
          </p:cNvSpPr>
          <p:nvPr/>
        </p:nvSpPr>
        <p:spPr>
          <a:xfrm xmlns:a="http://schemas.openxmlformats.org/drawingml/2006/main">
            <a:off x="876300" y="18669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xcode-select --install</a:t>
            </a:r>
          </a:p>
        </p:txBody>
      </p:sp>
      <p:sp>
        <p:nvSpPr>
          <p:cNvPr id="4" name="">
            <a:extLst xmlns:a="http://schemas.openxmlformats.org/drawingml/2006/main">
              <a:ext uri="{FF2B5EF4-FFF2-40B4-BE49-F238E27FC236}">
                <a16:creationId xmlns:a16="http://schemas.microsoft.com/office/drawing/2014/main" id="{E8560BD3-4FA5-415A-8098-252BDD465994}"/>
              </a:ext>
            </a:extLst>
          </p:cNvPr>
          <p:cNvSpPr>
            <a:spLocks xmlns:a="http://schemas.openxmlformats.org/drawingml/2006/main" noGrp="1"/>
          </p:cNvSpPr>
          <p:nvPr/>
        </p:nvSpPr>
        <p:spPr>
          <a:xfrm xmlns:a="http://schemas.openxmlformats.org/drawingml/2006/main">
            <a:off x="876300" y="27241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Ubuntu or Debian</a:t>
            </a:r>
          </a:p>
        </p:txBody>
      </p:sp>
      <p:sp>
        <p:nvSpPr>
          <p:cNvPr id="5" name="">
            <a:extLst xmlns:a="http://schemas.openxmlformats.org/drawingml/2006/main">
              <a:ext uri="{FF2B5EF4-FFF2-40B4-BE49-F238E27FC236}">
                <a16:creationId xmlns:a16="http://schemas.microsoft.com/office/drawing/2014/main" id="{12B303DE-D3B1-4070-9A1E-8BF0D59E348E}"/>
              </a:ext>
            </a:extLst>
          </p:cNvPr>
          <p:cNvSpPr>
            <a:spLocks xmlns:a="http://schemas.openxmlformats.org/drawingml/2006/main" noGrp="1"/>
          </p:cNvSpPr>
          <p:nvPr/>
        </p:nvSpPr>
        <p:spPr>
          <a:xfrm xmlns:a="http://schemas.openxmlformats.org/drawingml/2006/main">
            <a:off x="876300" y="316230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sudo apt update</a:t>
            </a:r>
          </a:p>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sudo apt install git build-essential</a:t>
            </a:r>
          </a:p>
        </p:txBody>
      </p:sp>
      <p:sp>
        <p:nvSpPr>
          <p:cNvPr id="6" name="">
            <a:extLst xmlns:a="http://schemas.openxmlformats.org/drawingml/2006/main">
              <a:ext uri="{FF2B5EF4-FFF2-40B4-BE49-F238E27FC236}">
                <a16:creationId xmlns:a16="http://schemas.microsoft.com/office/drawing/2014/main" id="{5410B971-9769-4D54-952B-F229708D6390}"/>
              </a:ext>
            </a:extLst>
          </p:cNvPr>
          <p:cNvSpPr>
            <a:spLocks xmlns:a="http://schemas.openxmlformats.org/drawingml/2006/main" noGrp="1"/>
          </p:cNvSpPr>
          <p:nvPr/>
        </p:nvSpPr>
        <p:spPr>
          <a:xfrm xmlns:a="http://schemas.openxmlformats.org/drawingml/2006/main">
            <a:off x="876300" y="45720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Verify after installation</a:t>
            </a:r>
          </a:p>
        </p:txBody>
      </p:sp>
      <p:sp>
        <p:nvSpPr>
          <p:cNvPr id="7" name="">
            <a:extLst xmlns:a="http://schemas.openxmlformats.org/drawingml/2006/main">
              <a:ext uri="{FF2B5EF4-FFF2-40B4-BE49-F238E27FC236}">
                <a16:creationId xmlns:a16="http://schemas.microsoft.com/office/drawing/2014/main" id="{85201C28-5B55-4915-A21A-B217160E3ECE}"/>
              </a:ext>
            </a:extLst>
          </p:cNvPr>
          <p:cNvSpPr>
            <a:spLocks xmlns:a="http://schemas.openxmlformats.org/drawingml/2006/main" noGrp="1"/>
          </p:cNvSpPr>
          <p:nvPr/>
        </p:nvSpPr>
        <p:spPr>
          <a:xfrm xmlns:a="http://schemas.openxmlformats.org/drawingml/2006/main">
            <a:off x="876300" y="501015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git --version</a:t>
            </a:r>
          </a:p>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cc --version</a:t>
            </a:r>
          </a:p>
        </p:txBody>
      </p:sp>
      <p:sp>
        <p:nvSpPr>
          <p:cNvPr id="8" name="">
            <a:extLst xmlns:a="http://schemas.openxmlformats.org/drawingml/2006/main">
              <a:ext uri="{FF2B5EF4-FFF2-40B4-BE49-F238E27FC236}">
                <a16:creationId xmlns:a16="http://schemas.microsoft.com/office/drawing/2014/main" id="{9D88727A-34E9-426D-BF80-C05C5B3E731E}"/>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7</a:t>
            </a:r>
          </a:p>
        </p:txBody>
      </p:sp>
    </p:spTree>
    <p:extLst>
      <p:ext uri="{BB962C8B-B14F-4D97-AF65-F5344CB8AC3E}">
        <p14:creationId xmlns:p14="http://schemas.microsoft.com/office/powerpoint/2010/main" val="8221671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48ACD5-BB74-4F67-A28A-50A5E70EA872}"/>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Windows setup with WSL</a:t>
            </a:r>
          </a:p>
        </p:txBody>
      </p:sp>
      <p:sp>
        <p:nvSpPr>
          <p:cNvPr id="2" name="">
            <a:extLst xmlns:a="http://schemas.openxmlformats.org/drawingml/2006/main">
              <a:ext uri="{FF2B5EF4-FFF2-40B4-BE49-F238E27FC236}">
                <a16:creationId xmlns:a16="http://schemas.microsoft.com/office/drawing/2014/main" id="{7DA75480-1A74-4F37-9199-C7A98A267936}"/>
              </a:ext>
            </a:extLst>
          </p:cNvPr>
          <p:cNvSpPr>
            <a:spLocks xmlns:a="http://schemas.openxmlformats.org/drawingml/2006/main" noGrp="1"/>
          </p:cNvSpPr>
          <p:nvPr/>
        </p:nvSpPr>
        <p:spPr>
          <a:xfrm xmlns:a="http://schemas.openxmlformats.org/drawingml/2006/main">
            <a:off x="876300" y="14287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Check in PowerShell or Windows Terminal</a:t>
            </a:r>
          </a:p>
        </p:txBody>
      </p:sp>
      <p:sp>
        <p:nvSpPr>
          <p:cNvPr id="3" name="">
            <a:extLst xmlns:a="http://schemas.openxmlformats.org/drawingml/2006/main">
              <a:ext uri="{FF2B5EF4-FFF2-40B4-BE49-F238E27FC236}">
                <a16:creationId xmlns:a16="http://schemas.microsoft.com/office/drawing/2014/main" id="{6C3CA12E-4B23-4C84-9873-DE6E7BD1250A}"/>
              </a:ext>
            </a:extLst>
          </p:cNvPr>
          <p:cNvSpPr>
            <a:spLocks xmlns:a="http://schemas.openxmlformats.org/drawingml/2006/main" noGrp="1"/>
          </p:cNvSpPr>
          <p:nvPr/>
        </p:nvSpPr>
        <p:spPr>
          <a:xfrm xmlns:a="http://schemas.openxmlformats.org/drawingml/2006/main">
            <a:off x="876300" y="18669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wsl --status</a:t>
            </a:r>
          </a:p>
          <a:p xmlns:a="http://schemas.openxmlformats.org/drawingml/2006/main">
            <a:pPr>
              <a:defRPr sz="2100" b="1">
                <a:solidFill>
                  <a:srgbClr val="1F4E79"/>
                </a:solidFill>
                <a:latin typeface="Arial"/>
                <a:ea typeface="Arial"/>
                <a:cs typeface="Arial"/>
              </a:defRPr>
            </a:pPr>
            <a:r>
              <a:rPr sz="2100" b="1">
                <a:solidFill>
                  <a:srgbClr val="1F4E79"/>
                </a:solidFill>
                <a:latin typeface="Arial"/>
                <a:ea typeface="Arial"/>
                <a:cs typeface="Arial"/>
              </a:rPr>
              <a:t>wsl --list --verbose</a:t>
            </a:r>
          </a:p>
        </p:txBody>
      </p:sp>
      <p:sp>
        <p:nvSpPr>
          <p:cNvPr id="4" name="">
            <a:extLst xmlns:a="http://schemas.openxmlformats.org/drawingml/2006/main">
              <a:ext uri="{FF2B5EF4-FFF2-40B4-BE49-F238E27FC236}">
                <a16:creationId xmlns:a16="http://schemas.microsoft.com/office/drawing/2014/main" id="{62165FFB-4277-4384-BCF1-75550B0C6D3B}"/>
              </a:ext>
            </a:extLst>
          </p:cNvPr>
          <p:cNvSpPr>
            <a:spLocks xmlns:a="http://schemas.openxmlformats.org/drawingml/2006/main" noGrp="1"/>
          </p:cNvSpPr>
          <p:nvPr/>
        </p:nvSpPr>
        <p:spPr>
          <a:xfrm xmlns:a="http://schemas.openxmlformats.org/drawingml/2006/main">
            <a:off x="876300" y="306705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Install WSL when it is missing</a:t>
            </a:r>
          </a:p>
        </p:txBody>
      </p:sp>
      <p:sp>
        <p:nvSpPr>
          <p:cNvPr id="5" name="">
            <a:extLst xmlns:a="http://schemas.openxmlformats.org/drawingml/2006/main">
              <a:ext uri="{FF2B5EF4-FFF2-40B4-BE49-F238E27FC236}">
                <a16:creationId xmlns:a16="http://schemas.microsoft.com/office/drawing/2014/main" id="{17EC3BD8-6CD8-4661-8CBE-A52B832B418F}"/>
              </a:ext>
            </a:extLst>
          </p:cNvPr>
          <p:cNvSpPr>
            <a:spLocks xmlns:a="http://schemas.openxmlformats.org/drawingml/2006/main" noGrp="1"/>
          </p:cNvSpPr>
          <p:nvPr/>
        </p:nvSpPr>
        <p:spPr>
          <a:xfrm xmlns:a="http://schemas.openxmlformats.org/drawingml/2006/main">
            <a:off x="876300" y="35052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F4E79"/>
                </a:solidFill>
                <a:latin typeface="Arial"/>
                <a:ea typeface="Arial"/>
                <a:cs typeface="Arial"/>
              </a:defRPr>
            </a:pPr>
            <a:r>
              <a:rPr sz="2250" b="1">
                <a:solidFill>
                  <a:srgbClr val="1F4E79"/>
                </a:solidFill>
                <a:latin typeface="Arial"/>
                <a:ea typeface="Arial"/>
                <a:cs typeface="Arial"/>
              </a:rPr>
              <a:t>wsl --install</a:t>
            </a:r>
          </a:p>
        </p:txBody>
      </p:sp>
      <p:sp>
        <p:nvSpPr>
          <p:cNvPr id="6" name="">
            <a:extLst xmlns:a="http://schemas.openxmlformats.org/drawingml/2006/main">
              <a:ext uri="{FF2B5EF4-FFF2-40B4-BE49-F238E27FC236}">
                <a16:creationId xmlns:a16="http://schemas.microsoft.com/office/drawing/2014/main" id="{69D6EEE5-8463-4980-B7BB-397E97500354}"/>
              </a:ext>
            </a:extLst>
          </p:cNvPr>
          <p:cNvSpPr>
            <a:spLocks xmlns:a="http://schemas.openxmlformats.org/drawingml/2006/main" noGrp="1"/>
          </p:cNvSpPr>
          <p:nvPr/>
        </p:nvSpPr>
        <p:spPr>
          <a:xfrm xmlns:a="http://schemas.openxmlformats.org/drawingml/2006/main">
            <a:off x="876300" y="43434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1717"/>
                </a:solidFill>
                <a:latin typeface="Arial"/>
                <a:ea typeface="Arial"/>
                <a:cs typeface="Arial"/>
              </a:defRPr>
            </a:pPr>
            <a:r>
              <a:rPr sz="2025" b="1">
                <a:solidFill>
                  <a:srgbClr val="171717"/>
                </a:solidFill>
                <a:latin typeface="Arial"/>
                <a:ea typeface="Arial"/>
                <a:cs typeface="Arial"/>
              </a:rPr>
              <a:t>Then open Ubuntu and install the lab tools</a:t>
            </a:r>
          </a:p>
        </p:txBody>
      </p:sp>
      <p:sp>
        <p:nvSpPr>
          <p:cNvPr id="7" name="">
            <a:extLst xmlns:a="http://schemas.openxmlformats.org/drawingml/2006/main">
              <a:ext uri="{FF2B5EF4-FFF2-40B4-BE49-F238E27FC236}">
                <a16:creationId xmlns:a16="http://schemas.microsoft.com/office/drawing/2014/main" id="{20E6D778-BBB8-49B1-978C-34909F54A021}"/>
              </a:ext>
            </a:extLst>
          </p:cNvPr>
          <p:cNvSpPr>
            <a:spLocks xmlns:a="http://schemas.openxmlformats.org/drawingml/2006/main" noGrp="1"/>
          </p:cNvSpPr>
          <p:nvPr/>
        </p:nvSpPr>
        <p:spPr>
          <a:xfrm xmlns:a="http://schemas.openxmlformats.org/drawingml/2006/main">
            <a:off x="876300" y="4781550"/>
            <a:ext cx="10382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sudo apt update</a:t>
            </a:r>
          </a:p>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sudo apt install git build-essential</a:t>
            </a:r>
          </a:p>
        </p:txBody>
      </p:sp>
      <p:sp>
        <p:nvSpPr>
          <p:cNvPr id="8" name="">
            <a:extLst xmlns:a="http://schemas.openxmlformats.org/drawingml/2006/main">
              <a:ext uri="{FF2B5EF4-FFF2-40B4-BE49-F238E27FC236}">
                <a16:creationId xmlns:a16="http://schemas.microsoft.com/office/drawing/2014/main" id="{9D9C8708-23D8-4686-8DB9-E0574E1EBB5E}"/>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8</a:t>
            </a:r>
          </a:p>
        </p:txBody>
      </p:sp>
    </p:spTree>
    <p:extLst>
      <p:ext uri="{BB962C8B-B14F-4D97-AF65-F5344CB8AC3E}">
        <p14:creationId xmlns:p14="http://schemas.microsoft.com/office/powerpoint/2010/main" val="3432690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AF01A9-418A-496E-B7C1-393987DD402D}"/>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Build and run preview</a:t>
            </a:r>
          </a:p>
        </p:txBody>
      </p:sp>
      <p:sp>
        <p:nvSpPr>
          <p:cNvPr id="2" name="">
            <a:extLst xmlns:a="http://schemas.openxmlformats.org/drawingml/2006/main">
              <a:ext uri="{FF2B5EF4-FFF2-40B4-BE49-F238E27FC236}">
                <a16:creationId xmlns:a16="http://schemas.microsoft.com/office/drawing/2014/main" id="{B3D92A71-081A-4877-B829-0F2AD367464E}"/>
              </a:ext>
            </a:extLst>
          </p:cNvPr>
          <p:cNvSpPr>
            <a:spLocks xmlns:a="http://schemas.openxmlformats.org/drawingml/2006/main" noGrp="1"/>
          </p:cNvSpPr>
          <p:nvPr/>
        </p:nvSpPr>
        <p:spPr>
          <a:xfrm xmlns:a="http://schemas.openxmlformats.org/drawingml/2006/main">
            <a:off x="876300" y="14668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171717"/>
                </a:solidFill>
                <a:latin typeface="Arial"/>
                <a:ea typeface="Arial"/>
                <a:cs typeface="Arial"/>
              </a:defRPr>
            </a:pPr>
            <a:r>
              <a:rPr sz="2025">
                <a:solidFill>
                  <a:srgbClr val="171717"/>
                </a:solidFill>
                <a:latin typeface="Arial"/>
                <a:ea typeface="Arial"/>
                <a:cs typeface="Arial"/>
              </a:rPr>
              <a:t>After the repository is posted, compile from the lab folder:</a:t>
            </a:r>
          </a:p>
        </p:txBody>
      </p:sp>
      <p:sp>
        <p:nvSpPr>
          <p:cNvPr id="3" name="">
            <a:extLst xmlns:a="http://schemas.openxmlformats.org/drawingml/2006/main">
              <a:ext uri="{FF2B5EF4-FFF2-40B4-BE49-F238E27FC236}">
                <a16:creationId xmlns:a16="http://schemas.microsoft.com/office/drawing/2014/main" id="{DCB77EF2-3CA7-4CFA-B3CC-0BA4D98C8A56}"/>
              </a:ext>
            </a:extLst>
          </p:cNvPr>
          <p:cNvSpPr>
            <a:spLocks xmlns:a="http://schemas.openxmlformats.org/drawingml/2006/main" noGrp="1"/>
          </p:cNvSpPr>
          <p:nvPr/>
        </p:nvSpPr>
        <p:spPr>
          <a:xfrm xmlns:a="http://schemas.openxmlformats.org/drawingml/2006/main">
            <a:off x="876300" y="2095500"/>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cc -std=c11 -O2 -Wall -Wextra -pedantic</a:t>
            </a:r>
          </a:p>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-Iinclude src/*.c -o cpu_lab</a:t>
            </a:r>
          </a:p>
        </p:txBody>
      </p:sp>
      <p:sp>
        <p:nvSpPr>
          <p:cNvPr id="4" name="">
            <a:extLst xmlns:a="http://schemas.openxmlformats.org/drawingml/2006/main">
              <a:ext uri="{FF2B5EF4-FFF2-40B4-BE49-F238E27FC236}">
                <a16:creationId xmlns:a16="http://schemas.microsoft.com/office/drawing/2014/main" id="{8EF45C59-8EE3-4C60-8ECF-04956E0195D5}"/>
              </a:ext>
            </a:extLst>
          </p:cNvPr>
          <p:cNvSpPr>
            <a:spLocks xmlns:a="http://schemas.openxmlformats.org/drawingml/2006/main" noGrp="1"/>
          </p:cNvSpPr>
          <p:nvPr/>
        </p:nvSpPr>
        <p:spPr>
          <a:xfrm xmlns:a="http://schemas.openxmlformats.org/drawingml/2006/main">
            <a:off x="876300" y="34766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171717"/>
                </a:solidFill>
                <a:latin typeface="Arial"/>
                <a:ea typeface="Arial"/>
                <a:cs typeface="Arial"/>
              </a:defRPr>
            </a:pPr>
            <a:r>
              <a:rPr sz="2025">
                <a:solidFill>
                  <a:srgbClr val="171717"/>
                </a:solidFill>
                <a:latin typeface="Arial"/>
                <a:ea typeface="Arial"/>
                <a:cs typeface="Arial"/>
              </a:rPr>
              <a:t>Run the executable:</a:t>
            </a:r>
          </a:p>
        </p:txBody>
      </p:sp>
      <p:sp>
        <p:nvSpPr>
          <p:cNvPr id="5" name="">
            <a:extLst xmlns:a="http://schemas.openxmlformats.org/drawingml/2006/main">
              <a:ext uri="{FF2B5EF4-FFF2-40B4-BE49-F238E27FC236}">
                <a16:creationId xmlns:a16="http://schemas.microsoft.com/office/drawing/2014/main" id="{01CC38BD-0D55-4233-9661-044B4C8CFBE3}"/>
              </a:ext>
            </a:extLst>
          </p:cNvPr>
          <p:cNvSpPr>
            <a:spLocks xmlns:a="http://schemas.openxmlformats.org/drawingml/2006/main" noGrp="1"/>
          </p:cNvSpPr>
          <p:nvPr/>
        </p:nvSpPr>
        <p:spPr>
          <a:xfrm xmlns:a="http://schemas.openxmlformats.org/drawingml/2006/main">
            <a:off x="876300" y="40957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F4E79"/>
                </a:solidFill>
                <a:latin typeface="Arial"/>
                <a:ea typeface="Arial"/>
                <a:cs typeface="Arial"/>
              </a:defRPr>
            </a:pPr>
            <a:r>
              <a:rPr sz="2550" b="1">
                <a:solidFill>
                  <a:srgbClr val="1F4E79"/>
                </a:solidFill>
                <a:latin typeface="Arial"/>
                <a:ea typeface="Arial"/>
                <a:cs typeface="Arial"/>
              </a:rPr>
              <a:t>./cpu_lab</a:t>
            </a:r>
          </a:p>
        </p:txBody>
      </p:sp>
      <p:sp>
        <p:nvSpPr>
          <p:cNvPr id="6" name="">
            <a:extLst xmlns:a="http://schemas.openxmlformats.org/drawingml/2006/main">
              <a:ext uri="{FF2B5EF4-FFF2-40B4-BE49-F238E27FC236}">
                <a16:creationId xmlns:a16="http://schemas.microsoft.com/office/drawing/2014/main" id="{58F8BC83-3C1C-4D4A-8949-8CEEBC6421A2}"/>
              </a:ext>
            </a:extLst>
          </p:cNvPr>
          <p:cNvSpPr>
            <a:spLocks xmlns:a="http://schemas.openxmlformats.org/drawingml/2006/main" noGrp="1"/>
          </p:cNvSpPr>
          <p:nvPr/>
        </p:nvSpPr>
        <p:spPr>
          <a:xfrm xmlns:a="http://schemas.openxmlformats.org/drawingml/2006/main">
            <a:off x="876300" y="52387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a:solidFill>
                  <a:srgbClr val="555555"/>
                </a:solidFill>
                <a:latin typeface="Arial"/>
                <a:ea typeface="Arial"/>
                <a:cs typeface="Arial"/>
              </a:defRPr>
            </a:pPr>
            <a:r>
              <a:rPr sz="1875">
                <a:solidFill>
                  <a:srgbClr val="555555"/>
                </a:solidFill>
                <a:latin typeface="Arial"/>
                <a:ea typeface="Arial"/>
                <a:cs typeface="Arial"/>
              </a:rPr>
              <a:t>The terminal will print results from each benchmark experiment.</a:t>
            </a:r>
          </a:p>
        </p:txBody>
      </p:sp>
      <p:sp>
        <p:nvSpPr>
          <p:cNvPr id="7" name="">
            <a:extLst xmlns:a="http://schemas.openxmlformats.org/drawingml/2006/main">
              <a:ext uri="{FF2B5EF4-FFF2-40B4-BE49-F238E27FC236}">
                <a16:creationId xmlns:a16="http://schemas.microsoft.com/office/drawing/2014/main" id="{888107FD-7C51-43CA-A1E3-B68911AE9980}"/>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9</a:t>
            </a:r>
          </a:p>
        </p:txBody>
      </p:sp>
    </p:spTree>
    <p:extLst>
      <p:ext uri="{BB962C8B-B14F-4D97-AF65-F5344CB8AC3E}">
        <p14:creationId xmlns:p14="http://schemas.microsoft.com/office/powerpoint/2010/main" val="12576155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162CA2D-D800-4D96-9C90-0FFB343B2B57}"/>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The CPU</a:t>
            </a:r>
          </a:p>
        </p:txBody>
      </p:sp>
      <p:sp>
        <p:nvSpPr>
          <p:cNvPr id="2" name="">
            <a:extLst xmlns:a="http://schemas.openxmlformats.org/drawingml/2006/main">
              <a:ext uri="{FF2B5EF4-FFF2-40B4-BE49-F238E27FC236}">
                <a16:creationId xmlns:a16="http://schemas.microsoft.com/office/drawing/2014/main" id="{B630D70F-1EB7-4C5E-91D9-11C3DD516EFA}"/>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The CPU is the computer's general purpose processor</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It executes streams of machine instructions</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Registers hold values currently used by instructions</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Arithmetic units perform operations such as addition and multiplication</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Caches keep recently used data close to the processor</a:t>
            </a:r>
          </a:p>
        </p:txBody>
      </p:sp>
      <p:sp>
        <p:nvSpPr>
          <p:cNvPr id="3" name="">
            <a:extLst xmlns:a="http://schemas.openxmlformats.org/drawingml/2006/main">
              <a:ext uri="{FF2B5EF4-FFF2-40B4-BE49-F238E27FC236}">
                <a16:creationId xmlns:a16="http://schemas.microsoft.com/office/drawing/2014/main" id="{C3036922-B50C-4A83-AA5C-CCBB06681ADB}"/>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10</a:t>
            </a:r>
          </a:p>
        </p:txBody>
      </p:sp>
    </p:spTree>
    <p:extLst>
      <p:ext uri="{BB962C8B-B14F-4D97-AF65-F5344CB8AC3E}">
        <p14:creationId xmlns:p14="http://schemas.microsoft.com/office/powerpoint/2010/main" val="614384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A45E84-AA00-410B-BCF8-328C9F4FD025}"/>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From C source to a running process</a:t>
            </a:r>
          </a:p>
        </p:txBody>
      </p:sp>
      <p:sp>
        <p:nvSpPr>
          <p:cNvPr id="2" name="">
            <a:extLst xmlns:a="http://schemas.openxmlformats.org/drawingml/2006/main">
              <a:ext uri="{FF2B5EF4-FFF2-40B4-BE49-F238E27FC236}">
                <a16:creationId xmlns:a16="http://schemas.microsoft.com/office/drawing/2014/main" id="{D420503D-2681-406D-93C7-980943F829BB}"/>
              </a:ext>
            </a:extLst>
          </p:cNvPr>
          <p:cNvSpPr>
            <a:spLocks xmlns:a="http://schemas.openxmlformats.org/drawingml/2006/main" noGrp="1"/>
          </p:cNvSpPr>
          <p:nvPr/>
        </p:nvSpPr>
        <p:spPr>
          <a:xfrm xmlns:a="http://schemas.openxmlformats.org/drawingml/2006/main">
            <a:off x="876300" y="1428750"/>
            <a:ext cx="1038225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171717"/>
                </a:solidFill>
                <a:latin typeface="Arial"/>
                <a:ea typeface="Arial"/>
                <a:cs typeface="Arial"/>
              </a:defRPr>
            </a:pPr>
            <a:r>
              <a:rPr sz="2175">
                <a:solidFill>
                  <a:srgbClr val="171717"/>
                </a:solidFill>
                <a:latin typeface="Arial"/>
                <a:ea typeface="Arial"/>
                <a:cs typeface="Arial"/>
              </a:rPr>
              <a:t>1.  You write a C source file.</a:t>
            </a:r>
          </a:p>
          <a:p xmlns:a="http://schemas.openxmlformats.org/drawingml/2006/main">
            <a:r>
              <a:t/>
            </a:r>
          </a:p>
          <a:p xmlns:a="http://schemas.openxmlformats.org/drawingml/2006/main">
            <a:pPr>
              <a:defRPr sz="2175">
                <a:solidFill>
                  <a:srgbClr val="171717"/>
                </a:solidFill>
                <a:latin typeface="Arial"/>
                <a:ea typeface="Arial"/>
                <a:cs typeface="Arial"/>
              </a:defRPr>
            </a:pPr>
            <a:r>
              <a:rPr sz="2175">
                <a:solidFill>
                  <a:srgbClr val="171717"/>
                </a:solidFill>
                <a:latin typeface="Arial"/>
                <a:ea typeface="Arial"/>
                <a:cs typeface="Arial"/>
              </a:rPr>
              <a:t>2.  The compiler creates machine code and an executable.</a:t>
            </a:r>
          </a:p>
          <a:p xmlns:a="http://schemas.openxmlformats.org/drawingml/2006/main">
            <a:r>
              <a:t/>
            </a:r>
          </a:p>
          <a:p xmlns:a="http://schemas.openxmlformats.org/drawingml/2006/main">
            <a:pPr>
              <a:defRPr sz="2175">
                <a:solidFill>
                  <a:srgbClr val="171717"/>
                </a:solidFill>
                <a:latin typeface="Arial"/>
                <a:ea typeface="Arial"/>
                <a:cs typeface="Arial"/>
              </a:defRPr>
            </a:pPr>
            <a:r>
              <a:rPr sz="2175">
                <a:solidFill>
                  <a:srgbClr val="171717"/>
                </a:solidFill>
                <a:latin typeface="Arial"/>
                <a:ea typeface="Arial"/>
                <a:cs typeface="Arial"/>
              </a:rPr>
              <a:t>3.  The operating system starts a process and maps its code and data into memory.</a:t>
            </a:r>
          </a:p>
          <a:p xmlns:a="http://schemas.openxmlformats.org/drawingml/2006/main">
            <a:r>
              <a:t/>
            </a:r>
          </a:p>
          <a:p xmlns:a="http://schemas.openxmlformats.org/drawingml/2006/main">
            <a:pPr>
              <a:defRPr sz="2175">
                <a:solidFill>
                  <a:srgbClr val="171717"/>
                </a:solidFill>
                <a:latin typeface="Arial"/>
                <a:ea typeface="Arial"/>
                <a:cs typeface="Arial"/>
              </a:defRPr>
            </a:pPr>
            <a:r>
              <a:rPr sz="2175">
                <a:solidFill>
                  <a:srgbClr val="171717"/>
                </a:solidFill>
                <a:latin typeface="Arial"/>
                <a:ea typeface="Arial"/>
                <a:cs typeface="Arial"/>
              </a:rPr>
              <a:t>4.  The CPU fetches and executes the program's instructions.</a:t>
            </a:r>
          </a:p>
        </p:txBody>
      </p:sp>
      <p:sp>
        <p:nvSpPr>
          <p:cNvPr id="3" name="">
            <a:extLst xmlns:a="http://schemas.openxmlformats.org/drawingml/2006/main">
              <a:ext uri="{FF2B5EF4-FFF2-40B4-BE49-F238E27FC236}">
                <a16:creationId xmlns:a16="http://schemas.microsoft.com/office/drawing/2014/main" id="{0B4A2FFC-0305-4341-A223-32D2E97D61D9}"/>
              </a:ext>
            </a:extLst>
          </p:cNvPr>
          <p:cNvSpPr>
            <a:spLocks xmlns:a="http://schemas.openxmlformats.org/drawingml/2006/main" noGrp="1"/>
          </p:cNvSpPr>
          <p:nvPr/>
        </p:nvSpPr>
        <p:spPr>
          <a:xfrm xmlns:a="http://schemas.openxmlformats.org/drawingml/2006/main">
            <a:off x="876300" y="56769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F4E79"/>
                </a:solidFill>
                <a:latin typeface="Arial"/>
                <a:ea typeface="Arial"/>
                <a:cs typeface="Arial"/>
              </a:defRPr>
            </a:pPr>
            <a:r>
              <a:rPr sz="1800" b="1">
                <a:solidFill>
                  <a:srgbClr val="1F4E79"/>
                </a:solidFill>
                <a:latin typeface="Arial"/>
                <a:ea typeface="Arial"/>
                <a:cs typeface="Arial"/>
              </a:rPr>
              <a:t>The source code is for humans. The executable is for the machine.</a:t>
            </a:r>
          </a:p>
        </p:txBody>
      </p:sp>
      <p:sp>
        <p:nvSpPr>
          <p:cNvPr id="4" name="">
            <a:extLst xmlns:a="http://schemas.openxmlformats.org/drawingml/2006/main">
              <a:ext uri="{FF2B5EF4-FFF2-40B4-BE49-F238E27FC236}">
                <a16:creationId xmlns:a16="http://schemas.microsoft.com/office/drawing/2014/main" id="{2B36F35A-6C22-4F53-9D04-781389B3BE26}"/>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11</a:t>
            </a:r>
          </a:p>
        </p:txBody>
      </p:sp>
    </p:spTree>
    <p:extLst>
      <p:ext uri="{BB962C8B-B14F-4D97-AF65-F5344CB8AC3E}">
        <p14:creationId xmlns:p14="http://schemas.microsoft.com/office/powerpoint/2010/main" val="9421951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F162D70-E066-498C-BAA5-14185B290F27}"/>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Machine instructions</a:t>
            </a:r>
          </a:p>
        </p:txBody>
      </p:sp>
      <p:sp>
        <p:nvSpPr>
          <p:cNvPr id="2" name="">
            <a:extLst xmlns:a="http://schemas.openxmlformats.org/drawingml/2006/main">
              <a:ext uri="{FF2B5EF4-FFF2-40B4-BE49-F238E27FC236}">
                <a16:creationId xmlns:a16="http://schemas.microsoft.com/office/drawing/2014/main" id="{D015B94F-3354-4AA2-BF51-1755BF8BBD0A}"/>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Load: bring a value from memory into a register</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Store: write a value from a register back to memory</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Arithmetic: add, multiply, or update an address</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Compare and branch: decide whether a loop continues</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Registers: small named locations used directly by the CPU</a:t>
            </a:r>
          </a:p>
        </p:txBody>
      </p:sp>
      <p:sp>
        <p:nvSpPr>
          <p:cNvPr id="3" name="">
            <a:extLst xmlns:a="http://schemas.openxmlformats.org/drawingml/2006/main">
              <a:ext uri="{FF2B5EF4-FFF2-40B4-BE49-F238E27FC236}">
                <a16:creationId xmlns:a16="http://schemas.microsoft.com/office/drawing/2014/main" id="{095607B6-8C0A-4B47-8E49-2A11216798C2}"/>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12</a:t>
            </a:r>
          </a:p>
        </p:txBody>
      </p:sp>
    </p:spTree>
    <p:extLst>
      <p:ext uri="{BB962C8B-B14F-4D97-AF65-F5344CB8AC3E}">
        <p14:creationId xmlns:p14="http://schemas.microsoft.com/office/powerpoint/2010/main" val="5853395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F46840-903F-4317-BB64-1229D90BF2FF}"/>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The practical memory hierarchy</a:t>
            </a:r>
          </a:p>
        </p:txBody>
      </p:sp>
      <p:sp>
        <p:nvSpPr>
          <p:cNvPr id="2" name="">
            <a:extLst xmlns:a="http://schemas.openxmlformats.org/drawingml/2006/main">
              <a:ext uri="{FF2B5EF4-FFF2-40B4-BE49-F238E27FC236}">
                <a16:creationId xmlns:a16="http://schemas.microsoft.com/office/drawing/2014/main" id="{D8F5E58C-26A4-4AD4-B81D-787CDCAF968B}"/>
              </a:ext>
            </a:extLst>
          </p:cNvPr>
          <p:cNvSpPr>
            <a:spLocks xmlns:a="http://schemas.openxmlformats.org/drawingml/2006/main" noGrp="1"/>
          </p:cNvSpPr>
          <p:nvPr/>
        </p:nvSpPr>
        <p:spPr>
          <a:xfrm xmlns:a="http://schemas.openxmlformats.org/drawingml/2006/main">
            <a:off x="876300" y="1476375"/>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Registers</a:t>
            </a:r>
          </a:p>
        </p:txBody>
      </p:sp>
      <p:sp>
        <p:nvSpPr>
          <p:cNvPr id="3" name="">
            <a:extLst xmlns:a="http://schemas.openxmlformats.org/drawingml/2006/main">
              <a:ext uri="{FF2B5EF4-FFF2-40B4-BE49-F238E27FC236}">
                <a16:creationId xmlns:a16="http://schemas.microsoft.com/office/drawing/2014/main" id="{5F8D9AC2-B024-443E-8389-27CB16981826}"/>
              </a:ext>
            </a:extLst>
          </p:cNvPr>
          <p:cNvSpPr>
            <a:spLocks xmlns:a="http://schemas.openxmlformats.org/drawingml/2006/main" noGrp="1"/>
          </p:cNvSpPr>
          <p:nvPr/>
        </p:nvSpPr>
        <p:spPr>
          <a:xfrm xmlns:a="http://schemas.openxmlformats.org/drawingml/2006/main">
            <a:off x="3143250" y="14763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171717"/>
                </a:solidFill>
                <a:latin typeface="Arial"/>
                <a:ea typeface="Arial"/>
                <a:cs typeface="Arial"/>
              </a:defRPr>
            </a:pPr>
            <a:r>
              <a:rPr sz="2025">
                <a:solidFill>
                  <a:srgbClr val="171717"/>
                </a:solidFill>
                <a:latin typeface="Arial"/>
                <a:ea typeface="Arial"/>
                <a:cs typeface="Arial"/>
              </a:rPr>
              <a:t>A few values used directly by current instructions</a:t>
            </a:r>
          </a:p>
        </p:txBody>
      </p:sp>
      <p:sp>
        <p:nvSpPr>
          <p:cNvPr id="4" name="">
            <a:extLst xmlns:a="http://schemas.openxmlformats.org/drawingml/2006/main">
              <a:ext uri="{FF2B5EF4-FFF2-40B4-BE49-F238E27FC236}">
                <a16:creationId xmlns:a16="http://schemas.microsoft.com/office/drawing/2014/main" id="{E2D9C6AA-8858-4B89-8076-9AD4F0C6D27C}"/>
              </a:ext>
            </a:extLst>
          </p:cNvPr>
          <p:cNvSpPr>
            <a:spLocks xmlns:a="http://schemas.openxmlformats.org/drawingml/2006/main" noGrp="1"/>
          </p:cNvSpPr>
          <p:nvPr/>
        </p:nvSpPr>
        <p:spPr>
          <a:xfrm xmlns:a="http://schemas.openxmlformats.org/drawingml/2006/main">
            <a:off x="876300" y="2428875"/>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Caches</a:t>
            </a:r>
          </a:p>
        </p:txBody>
      </p:sp>
      <p:sp>
        <p:nvSpPr>
          <p:cNvPr id="5" name="">
            <a:extLst xmlns:a="http://schemas.openxmlformats.org/drawingml/2006/main">
              <a:ext uri="{FF2B5EF4-FFF2-40B4-BE49-F238E27FC236}">
                <a16:creationId xmlns:a16="http://schemas.microsoft.com/office/drawing/2014/main" id="{AE062601-F43F-45E0-BBF3-6088B0E02700}"/>
              </a:ext>
            </a:extLst>
          </p:cNvPr>
          <p:cNvSpPr>
            <a:spLocks xmlns:a="http://schemas.openxmlformats.org/drawingml/2006/main" noGrp="1"/>
          </p:cNvSpPr>
          <p:nvPr/>
        </p:nvSpPr>
        <p:spPr>
          <a:xfrm xmlns:a="http://schemas.openxmlformats.org/drawingml/2006/main">
            <a:off x="3143250" y="2428875"/>
            <a:ext cx="8096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171717"/>
                </a:solidFill>
                <a:latin typeface="Arial"/>
                <a:ea typeface="Arial"/>
                <a:cs typeface="Arial"/>
              </a:defRPr>
            </a:pPr>
            <a:r>
              <a:rPr sz="2025">
                <a:solidFill>
                  <a:srgbClr val="171717"/>
                </a:solidFill>
                <a:latin typeface="Arial"/>
                <a:ea typeface="Arial"/>
                <a:cs typeface="Arial"/>
              </a:rPr>
              <a:t>L1, L2, and often L3 keep nearby or recently used data</a:t>
            </a:r>
          </a:p>
        </p:txBody>
      </p:sp>
      <p:sp>
        <p:nvSpPr>
          <p:cNvPr id="6" name="">
            <a:extLst xmlns:a="http://schemas.openxmlformats.org/drawingml/2006/main">
              <a:ext uri="{FF2B5EF4-FFF2-40B4-BE49-F238E27FC236}">
                <a16:creationId xmlns:a16="http://schemas.microsoft.com/office/drawing/2014/main" id="{E2952C21-3206-4EAC-BD4D-8269BE789C9F}"/>
              </a:ext>
            </a:extLst>
          </p:cNvPr>
          <p:cNvSpPr>
            <a:spLocks xmlns:a="http://schemas.openxmlformats.org/drawingml/2006/main" noGrp="1"/>
          </p:cNvSpPr>
          <p:nvPr/>
        </p:nvSpPr>
        <p:spPr>
          <a:xfrm xmlns:a="http://schemas.openxmlformats.org/drawingml/2006/main">
            <a:off x="876300" y="3571875"/>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DRAM</a:t>
            </a:r>
          </a:p>
        </p:txBody>
      </p:sp>
      <p:sp>
        <p:nvSpPr>
          <p:cNvPr id="7" name="">
            <a:extLst xmlns:a="http://schemas.openxmlformats.org/drawingml/2006/main">
              <a:ext uri="{FF2B5EF4-FFF2-40B4-BE49-F238E27FC236}">
                <a16:creationId xmlns:a16="http://schemas.microsoft.com/office/drawing/2014/main" id="{8702312A-47B3-46A1-9BA1-A30C6D03753F}"/>
              </a:ext>
            </a:extLst>
          </p:cNvPr>
          <p:cNvSpPr>
            <a:spLocks xmlns:a="http://schemas.openxmlformats.org/drawingml/2006/main" noGrp="1"/>
          </p:cNvSpPr>
          <p:nvPr/>
        </p:nvSpPr>
        <p:spPr>
          <a:xfrm xmlns:a="http://schemas.openxmlformats.org/drawingml/2006/main">
            <a:off x="3143250" y="35718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a:solidFill>
                  <a:srgbClr val="171717"/>
                </a:solidFill>
                <a:latin typeface="Arial"/>
                <a:ea typeface="Arial"/>
                <a:cs typeface="Arial"/>
              </a:defRPr>
            </a:pPr>
            <a:r>
              <a:rPr sz="2025">
                <a:solidFill>
                  <a:srgbClr val="171717"/>
                </a:solidFill>
                <a:latin typeface="Arial"/>
                <a:ea typeface="Arial"/>
                <a:cs typeface="Arial"/>
              </a:rPr>
              <a:t>Larger working memory for running programs</a:t>
            </a:r>
          </a:p>
        </p:txBody>
      </p:sp>
      <p:sp>
        <p:nvSpPr>
          <p:cNvPr id="8" name="">
            <a:extLst xmlns:a="http://schemas.openxmlformats.org/drawingml/2006/main">
              <a:ext uri="{FF2B5EF4-FFF2-40B4-BE49-F238E27FC236}">
                <a16:creationId xmlns:a16="http://schemas.microsoft.com/office/drawing/2014/main" id="{EE3F97FF-8663-4CB7-A403-099122A4A9E5}"/>
              </a:ext>
            </a:extLst>
          </p:cNvPr>
          <p:cNvSpPr>
            <a:spLocks xmlns:a="http://schemas.openxmlformats.org/drawingml/2006/main" noGrp="1"/>
          </p:cNvSpPr>
          <p:nvPr/>
        </p:nvSpPr>
        <p:spPr>
          <a:xfrm xmlns:a="http://schemas.openxmlformats.org/drawingml/2006/main">
            <a:off x="876300" y="509587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1717"/>
                </a:solidFill>
                <a:latin typeface="Arial"/>
                <a:ea typeface="Arial"/>
                <a:cs typeface="Arial"/>
              </a:defRPr>
            </a:pPr>
            <a:r>
              <a:rPr sz="2325" b="1">
                <a:solidFill>
                  <a:srgbClr val="171717"/>
                </a:solidFill>
                <a:latin typeface="Arial"/>
                <a:ea typeface="Arial"/>
                <a:cs typeface="Arial"/>
              </a:rPr>
              <a:t>Accessing data from farther levels usually costs more time.</a:t>
            </a:r>
          </a:p>
        </p:txBody>
      </p:sp>
      <p:sp>
        <p:nvSpPr>
          <p:cNvPr id="9" name="">
            <a:extLst xmlns:a="http://schemas.openxmlformats.org/drawingml/2006/main">
              <a:ext uri="{FF2B5EF4-FFF2-40B4-BE49-F238E27FC236}">
                <a16:creationId xmlns:a16="http://schemas.microsoft.com/office/drawing/2014/main" id="{3BBCBC25-BCDB-4CCB-AD87-7BFD3F9D7015}"/>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13</a:t>
            </a:r>
          </a:p>
        </p:txBody>
      </p:sp>
    </p:spTree>
    <p:extLst>
      <p:ext uri="{BB962C8B-B14F-4D97-AF65-F5344CB8AC3E}">
        <p14:creationId xmlns:p14="http://schemas.microsoft.com/office/powerpoint/2010/main" val="5702923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DE00F8-8FF0-4909-B919-193759703A32}"/>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The lab question</a:t>
            </a:r>
          </a:p>
        </p:txBody>
      </p:sp>
      <p:sp>
        <p:nvSpPr>
          <p:cNvPr id="2" name="">
            <a:extLst xmlns:a="http://schemas.openxmlformats.org/drawingml/2006/main">
              <a:ext uri="{FF2B5EF4-FFF2-40B4-BE49-F238E27FC236}">
                <a16:creationId xmlns:a16="http://schemas.microsoft.com/office/drawing/2014/main" id="{97FCE309-1D0B-4134-8EB3-58B0B5F44D96}"/>
              </a:ext>
            </a:extLst>
          </p:cNvPr>
          <p:cNvSpPr>
            <a:spLocks xmlns:a="http://schemas.openxmlformats.org/drawingml/2006/main" noGrp="1"/>
          </p:cNvSpPr>
          <p:nvPr/>
        </p:nvSpPr>
        <p:spPr>
          <a:xfrm xmlns:a="http://schemas.openxmlformats.org/drawingml/2006/main">
            <a:off x="876300" y="1952625"/>
            <a:ext cx="10382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F4E79"/>
                </a:solidFill>
                <a:latin typeface="Arial"/>
                <a:ea typeface="Arial"/>
                <a:cs typeface="Arial"/>
              </a:defRPr>
            </a:pPr>
            <a:r>
              <a:rPr sz="3150" b="1">
                <a:solidFill>
                  <a:srgbClr val="1F4E79"/>
                </a:solidFill>
                <a:latin typeface="Arial"/>
                <a:ea typeface="Arial"/>
                <a:cs typeface="Arial"/>
              </a:rPr>
              <a:t>How much can performance change when the computation stays the same but the data moves differently?</a:t>
            </a:r>
          </a:p>
        </p:txBody>
      </p:sp>
      <p:sp>
        <p:nvSpPr>
          <p:cNvPr id="3" name="">
            <a:extLst xmlns:a="http://schemas.openxmlformats.org/drawingml/2006/main">
              <a:ext uri="{FF2B5EF4-FFF2-40B4-BE49-F238E27FC236}">
                <a16:creationId xmlns:a16="http://schemas.microsoft.com/office/drawing/2014/main" id="{A6CF8608-700F-45A5-B6F9-1873B0BB270E}"/>
              </a:ext>
            </a:extLst>
          </p:cNvPr>
          <p:cNvSpPr>
            <a:spLocks xmlns:a="http://schemas.openxmlformats.org/drawingml/2006/main" noGrp="1"/>
          </p:cNvSpPr>
          <p:nvPr/>
        </p:nvSpPr>
        <p:spPr>
          <a:xfrm xmlns:a="http://schemas.openxmlformats.org/drawingml/2006/main">
            <a:off x="876300" y="4000500"/>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a:solidFill>
                  <a:srgbClr val="555555"/>
                </a:solidFill>
                <a:latin typeface="Arial"/>
                <a:ea typeface="Arial"/>
                <a:cs typeface="Arial"/>
              </a:defRPr>
            </a:pPr>
            <a:r>
              <a:rPr sz="2175">
                <a:solidFill>
                  <a:srgbClr val="555555"/>
                </a:solidFill>
                <a:latin typeface="Arial"/>
                <a:ea typeface="Arial"/>
                <a:cs typeface="Arial"/>
              </a:rPr>
              <a:t>We will change access order, layout, and work division. Then we will measure the result.</a:t>
            </a:r>
          </a:p>
        </p:txBody>
      </p:sp>
      <p:sp>
        <p:nvSpPr>
          <p:cNvPr id="4" name="">
            <a:extLst xmlns:a="http://schemas.openxmlformats.org/drawingml/2006/main">
              <a:ext uri="{FF2B5EF4-FFF2-40B4-BE49-F238E27FC236}">
                <a16:creationId xmlns:a16="http://schemas.microsoft.com/office/drawing/2014/main" id="{B6677624-B716-48A6-AB68-CAA293C51B43}"/>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14</a:t>
            </a:r>
          </a:p>
        </p:txBody>
      </p:sp>
    </p:spTree>
    <p:extLst>
      <p:ext uri="{BB962C8B-B14F-4D97-AF65-F5344CB8AC3E}">
        <p14:creationId xmlns:p14="http://schemas.microsoft.com/office/powerpoint/2010/main" val="7718864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0D4DED9-5B8D-41BC-B369-E17385F560B7}"/>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Memory access experiments</a:t>
            </a:r>
          </a:p>
        </p:txBody>
      </p:sp>
      <p:sp>
        <p:nvSpPr>
          <p:cNvPr id="2" name="">
            <a:extLst xmlns:a="http://schemas.openxmlformats.org/drawingml/2006/main">
              <a:ext uri="{FF2B5EF4-FFF2-40B4-BE49-F238E27FC236}">
                <a16:creationId xmlns:a16="http://schemas.microsoft.com/office/drawing/2014/main" id="{A4DE0DCF-C1E1-49FF-BED1-036D9A6E8369}"/>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Strided access: touch the same array with different gaps between elements</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Row and column traversal: visit the same matrix in two orders</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Bandwidth copy: measure the cost of moving a large block of data</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The total data can stay similar while the access pattern changes</a:t>
            </a:r>
          </a:p>
        </p:txBody>
      </p:sp>
      <p:sp>
        <p:nvSpPr>
          <p:cNvPr id="3" name="">
            <a:extLst xmlns:a="http://schemas.openxmlformats.org/drawingml/2006/main">
              <a:ext uri="{FF2B5EF4-FFF2-40B4-BE49-F238E27FC236}">
                <a16:creationId xmlns:a16="http://schemas.microsoft.com/office/drawing/2014/main" id="{BCB604F0-4546-4FDA-AA27-D7B83CC6A53B}"/>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15</a:t>
            </a:r>
          </a:p>
        </p:txBody>
      </p:sp>
    </p:spTree>
    <p:extLst>
      <p:ext uri="{BB962C8B-B14F-4D97-AF65-F5344CB8AC3E}">
        <p14:creationId xmlns:p14="http://schemas.microsoft.com/office/powerpoint/2010/main" val="103538826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885A3DA-BC11-42F3-9442-CC7A14552E62}"/>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Benchmarking carefully</a:t>
            </a:r>
          </a:p>
        </p:txBody>
      </p:sp>
      <p:sp>
        <p:nvSpPr>
          <p:cNvPr id="2" name="">
            <a:extLst xmlns:a="http://schemas.openxmlformats.org/drawingml/2006/main">
              <a:ext uri="{FF2B5EF4-FFF2-40B4-BE49-F238E27FC236}">
                <a16:creationId xmlns:a16="http://schemas.microsoft.com/office/drawing/2014/main" id="{4B8515D0-FE9D-4D95-96A0-35B764A27BA1}"/>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Check that every implementation produces the expected result</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Test several input sizes</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Run each case more than once</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Use the same compiler settings for comparisons</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Compare patterns on one machine before comparing different machines</a:t>
            </a:r>
          </a:p>
          <a:p xmlns:a="http://schemas.openxmlformats.org/drawingml/2006/main">
            <a:pPr marL="304800" indent="-152400">
              <a:spcAft>
                <a:spcPts val="900"/>
              </a:spcAft>
              <a:buChar char="•"/>
              <a:defRPr sz="2025">
                <a:solidFill>
                  <a:srgbClr val="171717"/>
                </a:solidFill>
                <a:latin typeface="Arial"/>
                <a:ea typeface="Arial"/>
                <a:cs typeface="Arial"/>
              </a:defRPr>
            </a:pPr>
            <a:r>
              <a:rPr sz="2025">
                <a:solidFill>
                  <a:srgbClr val="171717"/>
                </a:solidFill>
                <a:latin typeface="Arial"/>
                <a:ea typeface="Arial"/>
                <a:cs typeface="Arial"/>
              </a:rPr>
              <a:t>Record unusual conditions such as heavy background activity</a:t>
            </a:r>
          </a:p>
        </p:txBody>
      </p:sp>
      <p:sp>
        <p:nvSpPr>
          <p:cNvPr id="3" name="">
            <a:extLst xmlns:a="http://schemas.openxmlformats.org/drawingml/2006/main">
              <a:ext uri="{FF2B5EF4-FFF2-40B4-BE49-F238E27FC236}">
                <a16:creationId xmlns:a16="http://schemas.microsoft.com/office/drawing/2014/main" id="{3F895E8F-8292-48B3-8322-D80931411F53}"/>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16</a:t>
            </a:r>
          </a:p>
        </p:txBody>
      </p:sp>
    </p:spTree>
    <p:extLst>
      <p:ext uri="{BB962C8B-B14F-4D97-AF65-F5344CB8AC3E}">
        <p14:creationId xmlns:p14="http://schemas.microsoft.com/office/powerpoint/2010/main" val="123552096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C6BF07-A14E-42D8-8EA1-E3B80A617FFC}"/>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Matrix multiplication</a:t>
            </a:r>
          </a:p>
        </p:txBody>
      </p:sp>
      <p:sp>
        <p:nvSpPr>
          <p:cNvPr id="2" name="">
            <a:extLst xmlns:a="http://schemas.openxmlformats.org/drawingml/2006/main">
              <a:ext uri="{FF2B5EF4-FFF2-40B4-BE49-F238E27FC236}">
                <a16:creationId xmlns:a16="http://schemas.microsoft.com/office/drawing/2014/main" id="{E8960A4E-DBDB-48E6-A04D-FEA6C2889845}"/>
              </a:ext>
            </a:extLst>
          </p:cNvPr>
          <p:cNvSpPr>
            <a:spLocks xmlns:a="http://schemas.openxmlformats.org/drawingml/2006/main" noGrp="1"/>
          </p:cNvSpPr>
          <p:nvPr/>
        </p:nvSpPr>
        <p:spPr>
          <a:xfrm xmlns:a="http://schemas.openxmlformats.org/drawingml/2006/main">
            <a:off x="876300" y="161925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F4E79"/>
                </a:solidFill>
                <a:latin typeface="Arial"/>
                <a:ea typeface="Arial"/>
                <a:cs typeface="Arial"/>
              </a:defRPr>
            </a:pPr>
            <a:r>
              <a:rPr sz="2925" b="1">
                <a:solidFill>
                  <a:srgbClr val="1F4E79"/>
                </a:solidFill>
                <a:latin typeface="Arial"/>
                <a:ea typeface="Arial"/>
                <a:cs typeface="Arial"/>
              </a:rPr>
              <a:t>C[i,j] = Σ A[i,k]B[k,j]</a:t>
            </a:r>
          </a:p>
        </p:txBody>
      </p:sp>
      <p:sp>
        <p:nvSpPr>
          <p:cNvPr id="3" name="">
            <a:extLst xmlns:a="http://schemas.openxmlformats.org/drawingml/2006/main">
              <a:ext uri="{FF2B5EF4-FFF2-40B4-BE49-F238E27FC236}">
                <a16:creationId xmlns:a16="http://schemas.microsoft.com/office/drawing/2014/main" id="{43ED4AC0-398C-4AC4-80EE-E2E7D7E3F6FC}"/>
              </a:ext>
            </a:extLst>
          </p:cNvPr>
          <p:cNvSpPr>
            <a:spLocks xmlns:a="http://schemas.openxmlformats.org/drawingml/2006/main" noGrp="1"/>
          </p:cNvSpPr>
          <p:nvPr/>
        </p:nvSpPr>
        <p:spPr>
          <a:xfrm xmlns:a="http://schemas.openxmlformats.org/drawingml/2006/main">
            <a:off x="876300" y="2714625"/>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100"/>
              </a:spcAft>
              <a:buChar char="•"/>
              <a:defRPr sz="2175">
                <a:solidFill>
                  <a:srgbClr val="171717"/>
                </a:solidFill>
                <a:latin typeface="Arial"/>
                <a:ea typeface="Arial"/>
                <a:cs typeface="Arial"/>
              </a:defRPr>
            </a:pPr>
            <a:r>
              <a:rPr sz="2175">
                <a:solidFill>
                  <a:srgbClr val="171717"/>
                </a:solidFill>
                <a:latin typeface="Arial"/>
                <a:ea typeface="Arial"/>
                <a:cs typeface="Arial"/>
              </a:rPr>
              <a:t>Each output value is a dot product</a:t>
            </a:r>
          </a:p>
          <a:p xmlns:a="http://schemas.openxmlformats.org/drawingml/2006/main">
            <a:pPr marL="304800" indent="-152400">
              <a:spcAft>
                <a:spcPts val="1100"/>
              </a:spcAft>
              <a:buChar char="•"/>
              <a:defRPr sz="2175">
                <a:solidFill>
                  <a:srgbClr val="171717"/>
                </a:solidFill>
                <a:latin typeface="Arial"/>
                <a:ea typeface="Arial"/>
                <a:cs typeface="Arial"/>
              </a:defRPr>
            </a:pPr>
            <a:r>
              <a:rPr sz="2175">
                <a:solidFill>
                  <a:srgbClr val="171717"/>
                </a:solidFill>
                <a:latin typeface="Arial"/>
                <a:ea typeface="Arial"/>
                <a:cs typeface="Arial"/>
              </a:rPr>
              <a:t>The inner loop repeats multiply and add operations</a:t>
            </a:r>
          </a:p>
          <a:p xmlns:a="http://schemas.openxmlformats.org/drawingml/2006/main">
            <a:pPr marL="304800" indent="-152400">
              <a:spcAft>
                <a:spcPts val="1100"/>
              </a:spcAft>
              <a:buChar char="•"/>
              <a:defRPr sz="2175">
                <a:solidFill>
                  <a:srgbClr val="171717"/>
                </a:solidFill>
                <a:latin typeface="Arial"/>
                <a:ea typeface="Arial"/>
                <a:cs typeface="Arial"/>
              </a:defRPr>
            </a:pPr>
            <a:r>
              <a:rPr sz="2175">
                <a:solidFill>
                  <a:srgbClr val="171717"/>
                </a:solidFill>
                <a:latin typeface="Arial"/>
                <a:ea typeface="Arial"/>
                <a:cs typeface="Arial"/>
              </a:rPr>
              <a:t>Many machine learning layers contain matrix multiplication</a:t>
            </a:r>
          </a:p>
          <a:p xmlns:a="http://schemas.openxmlformats.org/drawingml/2006/main">
            <a:pPr marL="304800" indent="-152400">
              <a:spcAft>
                <a:spcPts val="1100"/>
              </a:spcAft>
              <a:buChar char="•"/>
              <a:defRPr sz="2175">
                <a:solidFill>
                  <a:srgbClr val="171717"/>
                </a:solidFill>
                <a:latin typeface="Arial"/>
                <a:ea typeface="Arial"/>
                <a:cs typeface="Arial"/>
              </a:defRPr>
            </a:pPr>
            <a:r>
              <a:rPr sz="2175">
                <a:solidFill>
                  <a:srgbClr val="171717"/>
                </a:solidFill>
                <a:latin typeface="Arial"/>
                <a:ea typeface="Arial"/>
                <a:cs typeface="Arial"/>
              </a:rPr>
              <a:t>A useful shorthand is input multiplied by weights</a:t>
            </a:r>
          </a:p>
        </p:txBody>
      </p:sp>
      <p:sp>
        <p:nvSpPr>
          <p:cNvPr id="4" name="">
            <a:extLst xmlns:a="http://schemas.openxmlformats.org/drawingml/2006/main">
              <a:ext uri="{FF2B5EF4-FFF2-40B4-BE49-F238E27FC236}">
                <a16:creationId xmlns:a16="http://schemas.microsoft.com/office/drawing/2014/main" id="{9DAE4D5A-F06C-45A3-9C98-6176467114AE}"/>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17</a:t>
            </a:r>
          </a:p>
        </p:txBody>
      </p:sp>
    </p:spTree>
    <p:extLst>
      <p:ext uri="{BB962C8B-B14F-4D97-AF65-F5344CB8AC3E}">
        <p14:creationId xmlns:p14="http://schemas.microsoft.com/office/powerpoint/2010/main" val="97683225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04EA9E-04D7-4744-B9D8-0C6920C2E8D9}"/>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Naive and transposed matmul</a:t>
            </a:r>
          </a:p>
        </p:txBody>
      </p:sp>
      <p:sp>
        <p:nvSpPr>
          <p:cNvPr id="2" name="">
            <a:extLst xmlns:a="http://schemas.openxmlformats.org/drawingml/2006/main">
              <a:ext uri="{FF2B5EF4-FFF2-40B4-BE49-F238E27FC236}">
                <a16:creationId xmlns:a16="http://schemas.microsoft.com/office/drawing/2014/main" id="{F0FBAF43-59FB-40F4-A077-77D2BBF40360}"/>
              </a:ext>
            </a:extLst>
          </p:cNvPr>
          <p:cNvSpPr>
            <a:spLocks xmlns:a="http://schemas.openxmlformats.org/drawingml/2006/main" noGrp="1"/>
          </p:cNvSpPr>
          <p:nvPr/>
        </p:nvSpPr>
        <p:spPr>
          <a:xfrm xmlns:a="http://schemas.openxmlformats.org/drawingml/2006/main">
            <a:off x="876300" y="147637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Naive access</a:t>
            </a:r>
          </a:p>
        </p:txBody>
      </p:sp>
      <p:sp>
        <p:nvSpPr>
          <p:cNvPr id="3" name="">
            <a:extLst xmlns:a="http://schemas.openxmlformats.org/drawingml/2006/main">
              <a:ext uri="{FF2B5EF4-FFF2-40B4-BE49-F238E27FC236}">
                <a16:creationId xmlns:a16="http://schemas.microsoft.com/office/drawing/2014/main" id="{9279565A-0849-4330-99DA-E79F83D2120A}"/>
              </a:ext>
            </a:extLst>
          </p:cNvPr>
          <p:cNvSpPr>
            <a:spLocks xmlns:a="http://schemas.openxmlformats.org/drawingml/2006/main" noGrp="1"/>
          </p:cNvSpPr>
          <p:nvPr/>
        </p:nvSpPr>
        <p:spPr>
          <a:xfrm xmlns:a="http://schemas.openxmlformats.org/drawingml/2006/main">
            <a:off x="876300" y="20478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71717"/>
                </a:solidFill>
                <a:latin typeface="Arial"/>
                <a:ea typeface="Arial"/>
                <a:cs typeface="Arial"/>
              </a:defRPr>
            </a:pPr>
            <a:r>
              <a:rPr sz="2100">
                <a:solidFill>
                  <a:srgbClr val="171717"/>
                </a:solidFill>
                <a:latin typeface="Arial"/>
                <a:ea typeface="Arial"/>
                <a:cs typeface="Arial"/>
              </a:rPr>
              <a:t>A[i][k] reads across a row</a:t>
            </a:r>
          </a:p>
          <a:p xmlns:a="http://schemas.openxmlformats.org/drawingml/2006/main">
            <a:pPr>
              <a:defRPr sz="2100">
                <a:solidFill>
                  <a:srgbClr val="171717"/>
                </a:solidFill>
                <a:latin typeface="Arial"/>
                <a:ea typeface="Arial"/>
                <a:cs typeface="Arial"/>
              </a:defRPr>
            </a:pPr>
            <a:r>
              <a:rPr sz="2100">
                <a:solidFill>
                  <a:srgbClr val="171717"/>
                </a:solidFill>
                <a:latin typeface="Arial"/>
                <a:ea typeface="Arial"/>
                <a:cs typeface="Arial"/>
              </a:rPr>
              <a:t>B[k][j] jumps between rows</a:t>
            </a:r>
          </a:p>
        </p:txBody>
      </p:sp>
      <p:sp>
        <p:nvSpPr>
          <p:cNvPr id="4" name="">
            <a:extLst xmlns:a="http://schemas.openxmlformats.org/drawingml/2006/main">
              <a:ext uri="{FF2B5EF4-FFF2-40B4-BE49-F238E27FC236}">
                <a16:creationId xmlns:a16="http://schemas.microsoft.com/office/drawing/2014/main" id="{795CA432-6EFE-4A68-8746-E3316DDBAB09}"/>
              </a:ext>
            </a:extLst>
          </p:cNvPr>
          <p:cNvSpPr>
            <a:spLocks xmlns:a="http://schemas.openxmlformats.org/drawingml/2006/main" noGrp="1"/>
          </p:cNvSpPr>
          <p:nvPr/>
        </p:nvSpPr>
        <p:spPr>
          <a:xfrm xmlns:a="http://schemas.openxmlformats.org/drawingml/2006/main">
            <a:off x="6429375"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Transposed access</a:t>
            </a:r>
          </a:p>
        </p:txBody>
      </p:sp>
      <p:sp>
        <p:nvSpPr>
          <p:cNvPr id="5" name="">
            <a:extLst xmlns:a="http://schemas.openxmlformats.org/drawingml/2006/main">
              <a:ext uri="{FF2B5EF4-FFF2-40B4-BE49-F238E27FC236}">
                <a16:creationId xmlns:a16="http://schemas.microsoft.com/office/drawing/2014/main" id="{2A6B1F15-9865-4A10-9094-2A363126A94F}"/>
              </a:ext>
            </a:extLst>
          </p:cNvPr>
          <p:cNvSpPr>
            <a:spLocks xmlns:a="http://schemas.openxmlformats.org/drawingml/2006/main" noGrp="1"/>
          </p:cNvSpPr>
          <p:nvPr/>
        </p:nvSpPr>
        <p:spPr>
          <a:xfrm xmlns:a="http://schemas.openxmlformats.org/drawingml/2006/main">
            <a:off x="6429375" y="20478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a:solidFill>
                  <a:srgbClr val="171717"/>
                </a:solidFill>
                <a:latin typeface="Arial"/>
                <a:ea typeface="Arial"/>
                <a:cs typeface="Arial"/>
              </a:defRPr>
            </a:pPr>
            <a:r>
              <a:rPr sz="2100">
                <a:solidFill>
                  <a:srgbClr val="171717"/>
                </a:solidFill>
                <a:latin typeface="Arial"/>
                <a:ea typeface="Arial"/>
                <a:cs typeface="Arial"/>
              </a:rPr>
              <a:t>A[i][k] reads across a row</a:t>
            </a:r>
          </a:p>
          <a:p xmlns:a="http://schemas.openxmlformats.org/drawingml/2006/main">
            <a:pPr>
              <a:defRPr sz="2100">
                <a:solidFill>
                  <a:srgbClr val="171717"/>
                </a:solidFill>
                <a:latin typeface="Arial"/>
                <a:ea typeface="Arial"/>
                <a:cs typeface="Arial"/>
              </a:defRPr>
            </a:pPr>
            <a:r>
              <a:rPr sz="2100">
                <a:solidFill>
                  <a:srgbClr val="171717"/>
                </a:solidFill>
                <a:latin typeface="Arial"/>
                <a:ea typeface="Arial"/>
                <a:cs typeface="Arial"/>
              </a:rPr>
              <a:t>BT[j][k] also reads across a row</a:t>
            </a:r>
          </a:p>
        </p:txBody>
      </p:sp>
      <p:sp>
        <p:nvSpPr>
          <p:cNvPr id="6" name="">
            <a:extLst xmlns:a="http://schemas.openxmlformats.org/drawingml/2006/main">
              <a:ext uri="{FF2B5EF4-FFF2-40B4-BE49-F238E27FC236}">
                <a16:creationId xmlns:a16="http://schemas.microsoft.com/office/drawing/2014/main" id="{55F30B29-62F3-4359-B992-057F01847F5D}"/>
              </a:ext>
            </a:extLst>
          </p:cNvPr>
          <p:cNvSpPr>
            <a:spLocks xmlns:a="http://schemas.openxmlformats.org/drawingml/2006/main" noGrp="1"/>
          </p:cNvSpPr>
          <p:nvPr/>
        </p:nvSpPr>
        <p:spPr>
          <a:xfrm xmlns:a="http://schemas.openxmlformats.org/drawingml/2006/main">
            <a:off x="876300" y="3905250"/>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1717"/>
                </a:solidFill>
                <a:latin typeface="Arial"/>
                <a:ea typeface="Arial"/>
                <a:cs typeface="Arial"/>
              </a:defRPr>
            </a:pPr>
            <a:r>
              <a:rPr sz="2625" b="1">
                <a:solidFill>
                  <a:srgbClr val="171717"/>
                </a:solidFill>
                <a:latin typeface="Arial"/>
                <a:ea typeface="Arial"/>
                <a:cs typeface="Arial"/>
              </a:rPr>
              <a:t>The mathematical result stays the same. The memory access pattern changes.</a:t>
            </a:r>
          </a:p>
        </p:txBody>
      </p:sp>
      <p:sp>
        <p:nvSpPr>
          <p:cNvPr id="7" name="">
            <a:extLst xmlns:a="http://schemas.openxmlformats.org/drawingml/2006/main">
              <a:ext uri="{FF2B5EF4-FFF2-40B4-BE49-F238E27FC236}">
                <a16:creationId xmlns:a16="http://schemas.microsoft.com/office/drawing/2014/main" id="{17E4D613-9035-426C-8546-566FC74E6009}"/>
              </a:ext>
            </a:extLst>
          </p:cNvPr>
          <p:cNvSpPr>
            <a:spLocks xmlns:a="http://schemas.openxmlformats.org/drawingml/2006/main" noGrp="1"/>
          </p:cNvSpPr>
          <p:nvPr/>
        </p:nvSpPr>
        <p:spPr>
          <a:xfrm xmlns:a="http://schemas.openxmlformats.org/drawingml/2006/main">
            <a:off x="876300" y="52863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i="1">
                <a:solidFill>
                  <a:srgbClr val="555555"/>
                </a:solidFill>
                <a:latin typeface="Arial"/>
                <a:ea typeface="Arial"/>
                <a:cs typeface="Arial"/>
              </a:defRPr>
            </a:pPr>
            <a:r>
              <a:rPr sz="1725" i="1">
                <a:solidFill>
                  <a:srgbClr val="555555"/>
                </a:solidFill>
                <a:latin typeface="Arial"/>
                <a:ea typeface="Arial"/>
                <a:cs typeface="Arial"/>
              </a:rPr>
              <a:t>Measure transpose cost separately or state clearly when the benchmark excludes it.</a:t>
            </a:r>
          </a:p>
        </p:txBody>
      </p:sp>
      <p:sp>
        <p:nvSpPr>
          <p:cNvPr id="8" name="">
            <a:extLst xmlns:a="http://schemas.openxmlformats.org/drawingml/2006/main">
              <a:ext uri="{FF2B5EF4-FFF2-40B4-BE49-F238E27FC236}">
                <a16:creationId xmlns:a16="http://schemas.microsoft.com/office/drawing/2014/main" id="{336A3AEA-FD3B-4FED-B3DF-F62E70CD4D3E}"/>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18</a:t>
            </a:r>
          </a:p>
        </p:txBody>
      </p:sp>
    </p:spTree>
    <p:extLst>
      <p:ext uri="{BB962C8B-B14F-4D97-AF65-F5344CB8AC3E}">
        <p14:creationId xmlns:p14="http://schemas.microsoft.com/office/powerpoint/2010/main" val="94246082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9A1FE6-F63D-4FF4-B9FE-72FEFE9175DE}"/>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Assembly view</a:t>
            </a:r>
          </a:p>
        </p:txBody>
      </p:sp>
      <p:sp>
        <p:nvSpPr>
          <p:cNvPr id="2" name="">
            <a:extLst xmlns:a="http://schemas.openxmlformats.org/drawingml/2006/main">
              <a:ext uri="{FF2B5EF4-FFF2-40B4-BE49-F238E27FC236}">
                <a16:creationId xmlns:a16="http://schemas.microsoft.com/office/drawing/2014/main" id="{484D62A7-A1AD-48D2-972D-45454A3E0864}"/>
              </a:ext>
            </a:extLst>
          </p:cNvPr>
          <p:cNvSpPr>
            <a:spLocks xmlns:a="http://schemas.openxmlformats.org/drawingml/2006/main" noGrp="1"/>
          </p:cNvSpPr>
          <p:nvPr/>
        </p:nvSpPr>
        <p:spPr>
          <a:xfrm xmlns:a="http://schemas.openxmlformats.org/drawingml/2006/main">
            <a:off x="876300" y="147637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cc -std=c11 -O2 -Iinclude -S src/stride_access.c</a:t>
            </a:r>
          </a:p>
          <a:p xmlns:a="http://schemas.openxmlformats.org/drawingml/2006/main">
            <a:pPr>
              <a:defRPr sz="2025" b="1">
                <a:solidFill>
                  <a:srgbClr val="1F4E79"/>
                </a:solidFill>
                <a:latin typeface="Arial"/>
                <a:ea typeface="Arial"/>
                <a:cs typeface="Arial"/>
              </a:defRPr>
            </a:pPr>
            <a:r>
              <a:rPr sz="2025" b="1">
                <a:solidFill>
                  <a:srgbClr val="1F4E79"/>
                </a:solidFill>
                <a:latin typeface="Arial"/>
                <a:ea typeface="Arial"/>
                <a:cs typeface="Arial"/>
              </a:rPr>
              <a:t>-o stride_access.s</a:t>
            </a:r>
          </a:p>
        </p:txBody>
      </p:sp>
      <p:sp>
        <p:nvSpPr>
          <p:cNvPr id="3" name="">
            <a:extLst xmlns:a="http://schemas.openxmlformats.org/drawingml/2006/main">
              <a:ext uri="{FF2B5EF4-FFF2-40B4-BE49-F238E27FC236}">
                <a16:creationId xmlns:a16="http://schemas.microsoft.com/office/drawing/2014/main" id="{979A47CE-0767-4817-ABAC-B7B5E94E7487}"/>
              </a:ext>
            </a:extLst>
          </p:cNvPr>
          <p:cNvSpPr>
            <a:spLocks xmlns:a="http://schemas.openxmlformats.org/drawingml/2006/main" noGrp="1"/>
          </p:cNvSpPr>
          <p:nvPr/>
        </p:nvSpPr>
        <p:spPr>
          <a:xfrm xmlns:a="http://schemas.openxmlformats.org/drawingml/2006/main">
            <a:off x="876300" y="2857500"/>
            <a:ext cx="10382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Register names</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Load and store instructions</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Arithmetic instructions</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Compare and branch instructions</a:t>
            </a:r>
          </a:p>
          <a:p xmlns:a="http://schemas.openxmlformats.org/drawingml/2006/main">
            <a:pPr marL="304800" indent="-152400">
              <a:spcAft>
                <a:spcPts val="1000"/>
              </a:spcAft>
              <a:buChar char="•"/>
              <a:defRPr sz="2100">
                <a:solidFill>
                  <a:srgbClr val="171717"/>
                </a:solidFill>
                <a:latin typeface="Arial"/>
                <a:ea typeface="Arial"/>
                <a:cs typeface="Arial"/>
              </a:defRPr>
            </a:pPr>
            <a:r>
              <a:rPr sz="2100">
                <a:solidFill>
                  <a:srgbClr val="171717"/>
                </a:solidFill>
                <a:latin typeface="Arial"/>
                <a:ea typeface="Arial"/>
                <a:cs typeface="Arial"/>
              </a:rPr>
              <a:t>Repeated instruction groups that form loops</a:t>
            </a:r>
          </a:p>
        </p:txBody>
      </p:sp>
      <p:sp>
        <p:nvSpPr>
          <p:cNvPr id="4" name="">
            <a:extLst xmlns:a="http://schemas.openxmlformats.org/drawingml/2006/main">
              <a:ext uri="{FF2B5EF4-FFF2-40B4-BE49-F238E27FC236}">
                <a16:creationId xmlns:a16="http://schemas.microsoft.com/office/drawing/2014/main" id="{9772036D-1CB2-4175-90AF-DAE6CB439775}"/>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19</a:t>
            </a:r>
          </a:p>
        </p:txBody>
      </p:sp>
    </p:spTree>
    <p:extLst>
      <p:ext uri="{BB962C8B-B14F-4D97-AF65-F5344CB8AC3E}">
        <p14:creationId xmlns:p14="http://schemas.microsoft.com/office/powerpoint/2010/main" val="17154899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7261E69-1302-4650-A3D1-953428FBAE47}"/>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Optional threading experiment</a:t>
            </a:r>
          </a:p>
        </p:txBody>
      </p:sp>
      <p:sp>
        <p:nvSpPr>
          <p:cNvPr id="2" name="">
            <a:extLst xmlns:a="http://schemas.openxmlformats.org/drawingml/2006/main">
              <a:ext uri="{FF2B5EF4-FFF2-40B4-BE49-F238E27FC236}">
                <a16:creationId xmlns:a16="http://schemas.microsoft.com/office/drawing/2014/main" id="{074F2245-120B-4DE9-BE1D-9EBD8B1BCE3D}"/>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Divide a large array into separate ranges</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Let each thread compute one partial sum</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Combine the partial sums after all threads finish</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Thread creation and coordination also consume time</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Parallel work helps when the task is large enough and divides cleanly</a:t>
            </a:r>
          </a:p>
        </p:txBody>
      </p:sp>
      <p:sp>
        <p:nvSpPr>
          <p:cNvPr id="3" name="">
            <a:extLst xmlns:a="http://schemas.openxmlformats.org/drawingml/2006/main">
              <a:ext uri="{FF2B5EF4-FFF2-40B4-BE49-F238E27FC236}">
                <a16:creationId xmlns:a16="http://schemas.microsoft.com/office/drawing/2014/main" id="{383F41A5-E3A4-4F97-A2D4-1D6292B0D0A1}"/>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20</a:t>
            </a:r>
          </a:p>
        </p:txBody>
      </p:sp>
    </p:spTree>
    <p:extLst>
      <p:ext uri="{BB962C8B-B14F-4D97-AF65-F5344CB8AC3E}">
        <p14:creationId xmlns:p14="http://schemas.microsoft.com/office/powerpoint/2010/main" val="128683216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FB9E50-27CE-4C38-9E0B-A1ACAF6DD528}"/>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Why AI accelerators exist</a:t>
            </a:r>
          </a:p>
        </p:txBody>
      </p:sp>
      <p:sp>
        <p:nvSpPr>
          <p:cNvPr id="2" name="">
            <a:extLst xmlns:a="http://schemas.openxmlformats.org/drawingml/2006/main">
              <a:ext uri="{FF2B5EF4-FFF2-40B4-BE49-F238E27FC236}">
                <a16:creationId xmlns:a16="http://schemas.microsoft.com/office/drawing/2014/main" id="{5F3A4EAA-BC8C-4D1D-9B64-098E55E3E8CE}"/>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Machine learning workloads repeat large amounts of regular numerical work</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Specialized matrix and vector engines can process that work efficiently</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Local memory can keep reused data close to compute</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Many workers can process independent pieces of a larger tensor</a:t>
            </a:r>
          </a:p>
          <a:p xmlns:a="http://schemas.openxmlformats.org/drawingml/2006/main">
            <a:pPr marL="304800" indent="-152400">
              <a:spcAft>
                <a:spcPts val="1300"/>
              </a:spcAft>
              <a:buChar char="•"/>
              <a:defRPr sz="2250">
                <a:solidFill>
                  <a:srgbClr val="171717"/>
                </a:solidFill>
                <a:latin typeface="Arial"/>
                <a:ea typeface="Arial"/>
                <a:cs typeface="Arial"/>
              </a:defRPr>
            </a:pPr>
            <a:r>
              <a:rPr sz="2250">
                <a:solidFill>
                  <a:srgbClr val="171717"/>
                </a:solidFill>
                <a:latin typeface="Arial"/>
                <a:ea typeface="Arial"/>
                <a:cs typeface="Arial"/>
              </a:rPr>
              <a:t>A fast interconnect and memory system must keep those workers supplied</a:t>
            </a:r>
          </a:p>
        </p:txBody>
      </p:sp>
      <p:sp>
        <p:nvSpPr>
          <p:cNvPr id="3" name="">
            <a:extLst xmlns:a="http://schemas.openxmlformats.org/drawingml/2006/main">
              <a:ext uri="{FF2B5EF4-FFF2-40B4-BE49-F238E27FC236}">
                <a16:creationId xmlns:a16="http://schemas.microsoft.com/office/drawing/2014/main" id="{2B19530D-E603-48DF-B549-1FFA0D1281ED}"/>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21</a:t>
            </a:r>
          </a:p>
        </p:txBody>
      </p:sp>
    </p:spTree>
    <p:extLst>
      <p:ext uri="{BB962C8B-B14F-4D97-AF65-F5344CB8AC3E}">
        <p14:creationId xmlns:p14="http://schemas.microsoft.com/office/powerpoint/2010/main" val="174950003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EF1DA7F-86FE-4B8E-A29A-15C47F60BAEE}"/>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After the lecture</a:t>
            </a:r>
          </a:p>
        </p:txBody>
      </p:sp>
      <p:sp>
        <p:nvSpPr>
          <p:cNvPr id="2" name="">
            <a:extLst xmlns:a="http://schemas.openxmlformats.org/drawingml/2006/main">
              <a:ext uri="{FF2B5EF4-FFF2-40B4-BE49-F238E27FC236}">
                <a16:creationId xmlns:a16="http://schemas.microsoft.com/office/drawing/2014/main" id="{345CD696-9E5A-4DA2-82C2-1D57DC87961B}"/>
              </a:ext>
            </a:extLst>
          </p:cNvPr>
          <p:cNvSpPr>
            <a:spLocks xmlns:a="http://schemas.openxmlformats.org/drawingml/2006/main" noGrp="1"/>
          </p:cNvSpPr>
          <p:nvPr/>
        </p:nvSpPr>
        <p:spPr>
          <a:xfrm xmlns:a="http://schemas.openxmlformats.org/drawingml/2006/main">
            <a:off x="876300" y="1504950"/>
            <a:ext cx="10382250" cy="447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Open your GitHub fork and use Sync fork</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In the local clone, switch to main and pull from origin</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Follow setup.md for your operating system</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Confirm that the lab builds and runs from the terminal</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Create a work branch for the assigned benchmark or project role</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Submit the completed contribution through a pull request</a:t>
            </a:r>
          </a:p>
        </p:txBody>
      </p:sp>
      <p:sp>
        <p:nvSpPr>
          <p:cNvPr id="3" name="">
            <a:extLst xmlns:a="http://schemas.openxmlformats.org/drawingml/2006/main">
              <a:ext uri="{FF2B5EF4-FFF2-40B4-BE49-F238E27FC236}">
                <a16:creationId xmlns:a16="http://schemas.microsoft.com/office/drawing/2014/main" id="{AD940BFF-AF8C-4C81-9A6F-A733AE0E38CD}"/>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22</a:t>
            </a:r>
          </a:p>
        </p:txBody>
      </p:sp>
    </p:spTree>
    <p:extLst>
      <p:ext uri="{BB962C8B-B14F-4D97-AF65-F5344CB8AC3E}">
        <p14:creationId xmlns:p14="http://schemas.microsoft.com/office/powerpoint/2010/main" val="19215400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42BA92-015E-4416-8CA0-4E418F37B09B}"/>
              </a:ext>
            </a:extLst>
          </p:cNvPr>
          <p:cNvSpPr>
            <a:spLocks xmlns:a="http://schemas.openxmlformats.org/drawingml/2006/main" noGrp="1"/>
          </p:cNvSpPr>
          <p:nvPr/>
        </p:nvSpPr>
        <p:spPr>
          <a:xfrm xmlns:a="http://schemas.openxmlformats.org/drawingml/2006/main">
            <a:off x="685800" y="4572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1717"/>
                </a:solidFill>
                <a:latin typeface="Arial"/>
                <a:ea typeface="Arial"/>
                <a:cs typeface="Arial"/>
              </a:defRPr>
            </a:pPr>
            <a:r>
              <a:rPr sz="3300" b="1">
                <a:solidFill>
                  <a:srgbClr val="171717"/>
                </a:solidFill>
                <a:latin typeface="Arial"/>
                <a:ea typeface="Arial"/>
                <a:cs typeface="Arial"/>
              </a:rPr>
              <a:t>Blackhole preview</a:t>
            </a:r>
          </a:p>
        </p:txBody>
      </p:sp>
      <p:sp>
        <p:nvSpPr>
          <p:cNvPr id="2" name="">
            <a:extLst xmlns:a="http://schemas.openxmlformats.org/drawingml/2006/main">
              <a:ext uri="{FF2B5EF4-FFF2-40B4-BE49-F238E27FC236}">
                <a16:creationId xmlns:a16="http://schemas.microsoft.com/office/drawing/2014/main" id="{E95653BC-F00A-43D7-8015-2DE4E0F1826E}"/>
              </a:ext>
            </a:extLst>
          </p:cNvPr>
          <p:cNvSpPr>
            <a:spLocks xmlns:a="http://schemas.openxmlformats.org/drawingml/2006/main" noGrp="1"/>
          </p:cNvSpPr>
          <p:nvPr/>
        </p:nvSpPr>
        <p:spPr>
          <a:xfrm xmlns:a="http://schemas.openxmlformats.org/drawingml/2006/main">
            <a:off x="876300" y="1381125"/>
            <a:ext cx="10382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RISC-V processors coordinate device work</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Local L1 SRAM keeps working data near compute</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The Network-on-Chip moves data across the device</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Specialized matrix and vector engines operate on tensor data</a:t>
            </a:r>
          </a:p>
          <a:p xmlns:a="http://schemas.openxmlformats.org/drawingml/2006/main">
            <a:pPr marL="304800" indent="-152400">
              <a:spcAft>
                <a:spcPts val="900"/>
              </a:spcAft>
              <a:buChar char="•"/>
              <a:defRPr sz="2100">
                <a:solidFill>
                  <a:srgbClr val="171717"/>
                </a:solidFill>
                <a:latin typeface="Arial"/>
                <a:ea typeface="Arial"/>
                <a:cs typeface="Arial"/>
              </a:defRPr>
            </a:pPr>
            <a:r>
              <a:rPr sz="2100">
                <a:solidFill>
                  <a:srgbClr val="171717"/>
                </a:solidFill>
                <a:latin typeface="Arial"/>
                <a:ea typeface="Arial"/>
                <a:cs typeface="Arial"/>
              </a:rPr>
              <a:t>GDDR6 stores larger data on the device</a:t>
            </a:r>
          </a:p>
        </p:txBody>
      </p:sp>
      <p:sp>
        <p:nvSpPr>
          <p:cNvPr id="3" name="">
            <a:extLst xmlns:a="http://schemas.openxmlformats.org/drawingml/2006/main">
              <a:ext uri="{FF2B5EF4-FFF2-40B4-BE49-F238E27FC236}">
                <a16:creationId xmlns:a16="http://schemas.microsoft.com/office/drawing/2014/main" id="{6924F060-F5F2-47CB-B7C2-CF282EE31EC7}"/>
              </a:ext>
            </a:extLst>
          </p:cNvPr>
          <p:cNvSpPr>
            <a:spLocks xmlns:a="http://schemas.openxmlformats.org/drawingml/2006/main" noGrp="1"/>
          </p:cNvSpPr>
          <p:nvPr/>
        </p:nvSpPr>
        <p:spPr>
          <a:xfrm xmlns:a="http://schemas.openxmlformats.org/drawingml/2006/main">
            <a:off x="876300" y="50006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F4E79"/>
                </a:solidFill>
                <a:latin typeface="Arial"/>
                <a:ea typeface="Arial"/>
                <a:cs typeface="Arial"/>
              </a:defRPr>
            </a:pPr>
            <a:r>
              <a:rPr sz="2325" b="1">
                <a:solidFill>
                  <a:srgbClr val="1F4E79"/>
                </a:solidFill>
                <a:latin typeface="Arial"/>
                <a:ea typeface="Arial"/>
                <a:cs typeface="Arial"/>
              </a:rPr>
              <a:t>Today's CPU lab gives us four questions: What computes? Where does data live? How does it move? How is the work divided?</a:t>
            </a:r>
          </a:p>
        </p:txBody>
      </p:sp>
      <p:sp>
        <p:nvSpPr>
          <p:cNvPr id="4" name="">
            <a:extLst xmlns:a="http://schemas.openxmlformats.org/drawingml/2006/main">
              <a:ext uri="{FF2B5EF4-FFF2-40B4-BE49-F238E27FC236}">
                <a16:creationId xmlns:a16="http://schemas.microsoft.com/office/drawing/2014/main" id="{100A4951-9862-445B-9BF6-228A1CE9EEED}"/>
              </a:ext>
            </a:extLst>
          </p:cNvPr>
          <p:cNvSpPr>
            <a:spLocks xmlns:a="http://schemas.openxmlformats.org/drawingml/2006/main" noGrp="1"/>
          </p:cNvSpPr>
          <p:nvPr/>
        </p:nvSpPr>
        <p:spPr>
          <a:xfrm xmlns:a="http://schemas.openxmlformats.org/drawingml/2006/main">
            <a:off x="11334750" y="6334125"/>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a:solidFill>
                  <a:srgbClr val="8A8A8A"/>
                </a:solidFill>
                <a:latin typeface="Arial"/>
                <a:ea typeface="Arial"/>
                <a:cs typeface="Arial"/>
              </a:defRPr>
            </a:pPr>
            <a:r>
              <a:rPr sz="1350">
                <a:solidFill>
                  <a:srgbClr val="8A8A8A"/>
                </a:solidFill>
                <a:latin typeface="Arial"/>
                <a:ea typeface="Arial"/>
                <a:cs typeface="Arial"/>
              </a:rPr>
              <a:t>23</a:t>
            </a:r>
          </a:p>
        </p:txBody>
      </p:sp>
    </p:spTree>
    <p:extLst>
      <p:ext uri="{BB962C8B-B14F-4D97-AF65-F5344CB8AC3E}">
        <p14:creationId xmlns:p14="http://schemas.microsoft.com/office/powerpoint/2010/main" val="6927711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2026-09-15T19:14:17.0590000Z</dcterms:created>
  <dcterms:modified xsi:type="dcterms:W3CDTF">2026-09-15T19:14:17.0590000Z</dcterms:modified>
</coreProperties>
</file>